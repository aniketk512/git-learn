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1"/>
  </p:sldMasterIdLst>
  <p:notesMasterIdLst>
    <p:notesMasterId r:id="rId25"/>
  </p:notesMasterIdLst>
  <p:handoutMasterIdLst>
    <p:handoutMasterId r:id="rId26"/>
  </p:handoutMasterIdLst>
  <p:sldIdLst>
    <p:sldId id="256" r:id="rId2"/>
    <p:sldId id="257" r:id="rId3"/>
    <p:sldId id="278" r:id="rId4"/>
    <p:sldId id="260" r:id="rId5"/>
    <p:sldId id="261" r:id="rId6"/>
    <p:sldId id="258" r:id="rId7"/>
    <p:sldId id="282" r:id="rId8"/>
    <p:sldId id="292" r:id="rId9"/>
    <p:sldId id="291" r:id="rId10"/>
    <p:sldId id="293" r:id="rId11"/>
    <p:sldId id="294" r:id="rId12"/>
    <p:sldId id="268" r:id="rId13"/>
    <p:sldId id="283" r:id="rId14"/>
    <p:sldId id="289" r:id="rId15"/>
    <p:sldId id="290" r:id="rId16"/>
    <p:sldId id="280" r:id="rId17"/>
    <p:sldId id="276" r:id="rId18"/>
    <p:sldId id="281" r:id="rId19"/>
    <p:sldId id="288" r:id="rId20"/>
    <p:sldId id="269" r:id="rId21"/>
    <p:sldId id="295" r:id="rId22"/>
    <p:sldId id="285" r:id="rId23"/>
    <p:sldId id="279"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85" d="100"/>
          <a:sy n="85" d="100"/>
        </p:scale>
        <p:origin x="1406"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C60138D-FFA2-AC16-81FA-4650645BA6B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A Novel Approach For Blood Bank And Donor Management system</a:t>
            </a:r>
            <a:endParaRPr lang="en-IN"/>
          </a:p>
        </p:txBody>
      </p:sp>
      <p:sp>
        <p:nvSpPr>
          <p:cNvPr id="3" name="Date Placeholder 2">
            <a:extLst>
              <a:ext uri="{FF2B5EF4-FFF2-40B4-BE49-F238E27FC236}">
                <a16:creationId xmlns:a16="http://schemas.microsoft.com/office/drawing/2014/main" id="{48FCAADC-C30C-02B8-2C8C-A23AFD183C1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02A21F5-FC0C-4F5C-A594-717740E36CA6}" type="datetimeFigureOut">
              <a:rPr lang="en-IN" smtClean="0"/>
              <a:t>17-03-2023</a:t>
            </a:fld>
            <a:endParaRPr lang="en-IN"/>
          </a:p>
        </p:txBody>
      </p:sp>
      <p:sp>
        <p:nvSpPr>
          <p:cNvPr id="4" name="Footer Placeholder 3">
            <a:extLst>
              <a:ext uri="{FF2B5EF4-FFF2-40B4-BE49-F238E27FC236}">
                <a16:creationId xmlns:a16="http://schemas.microsoft.com/office/drawing/2014/main" id="{F1CB8524-4DFA-3FD8-E77C-3A1848E38EF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JSPM’s BSIOTR, Wagholi, Pune</a:t>
            </a:r>
          </a:p>
        </p:txBody>
      </p:sp>
      <p:sp>
        <p:nvSpPr>
          <p:cNvPr id="5" name="Slide Number Placeholder 4">
            <a:extLst>
              <a:ext uri="{FF2B5EF4-FFF2-40B4-BE49-F238E27FC236}">
                <a16:creationId xmlns:a16="http://schemas.microsoft.com/office/drawing/2014/main" id="{9FCD1DD5-6B7D-38CC-65FD-EB2491084D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0A51621-1985-455C-BC17-0D4877714CDC}" type="slidenum">
              <a:rPr lang="en-IN" smtClean="0"/>
              <a:t>‹#›</a:t>
            </a:fld>
            <a:endParaRPr lang="en-IN"/>
          </a:p>
        </p:txBody>
      </p:sp>
    </p:spTree>
    <p:extLst>
      <p:ext uri="{BB962C8B-B14F-4D97-AF65-F5344CB8AC3E}">
        <p14:creationId xmlns:p14="http://schemas.microsoft.com/office/powerpoint/2010/main" val="191517354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A Novel Approach For Blood Bank And Donor Management system</a:t>
            </a: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D436FAD-717A-4DF4-B934-0540FD0F5829}" type="datetimeFigureOut">
              <a:rPr lang="en-US" smtClean="0"/>
              <a:pPr/>
              <a:t>3/17/2023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a:t>JSPM’s BSIOTR, Wagholi, Pune</a:t>
            </a: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FEDE34-6F7D-4DA6-9185-CDADD0C74871}" type="slidenum">
              <a:rPr lang="en-US" smtClean="0"/>
              <a:pPr/>
              <a:t>‹#›</a:t>
            </a:fld>
            <a:endParaRPr lang="en-US" dirty="0"/>
          </a:p>
        </p:txBody>
      </p:sp>
    </p:spTree>
    <p:extLst>
      <p:ext uri="{BB962C8B-B14F-4D97-AF65-F5344CB8AC3E}">
        <p14:creationId xmlns:p14="http://schemas.microsoft.com/office/powerpoint/2010/main" val="3729576784"/>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A0C18FC-6113-4D41-A1C9-38F2CBCC4516}" type="datetime1">
              <a:rPr lang="en-US" smtClean="0"/>
              <a:t>3/17/2023</a:t>
            </a:fld>
            <a:endParaRPr lang="en-US" dirty="0"/>
          </a:p>
        </p:txBody>
      </p:sp>
      <p:sp>
        <p:nvSpPr>
          <p:cNvPr id="5" name="Footer Placeholder 4"/>
          <p:cNvSpPr>
            <a:spLocks noGrp="1"/>
          </p:cNvSpPr>
          <p:nvPr>
            <p:ph type="ftr" sz="quarter" idx="11"/>
          </p:nvPr>
        </p:nvSpPr>
        <p:spPr/>
        <p:txBody>
          <a:bodyPr/>
          <a:lstStyle/>
          <a:p>
            <a:r>
              <a:rPr lang="en-US"/>
              <a:t>JSPM’s BSIOTR, Wagholi, Pune</a:t>
            </a:r>
            <a:endParaRPr lang="en-US" dirty="0"/>
          </a:p>
        </p:txBody>
      </p:sp>
      <p:sp>
        <p:nvSpPr>
          <p:cNvPr id="6" name="Slide Number Placeholder 5"/>
          <p:cNvSpPr>
            <a:spLocks noGrp="1"/>
          </p:cNvSpPr>
          <p:nvPr>
            <p:ph type="sldNum" sz="quarter" idx="12"/>
          </p:nvPr>
        </p:nvSpPr>
        <p:spPr/>
        <p:txBody>
          <a:bodyPr/>
          <a:lstStyle/>
          <a:p>
            <a:fld id="{7161C815-E3C8-4F84-A404-75109D49E891}"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0BC696F-C1DE-491A-AE89-A456A4F28492}" type="datetime1">
              <a:rPr lang="en-US" smtClean="0"/>
              <a:t>3/17/2023</a:t>
            </a:fld>
            <a:endParaRPr lang="en-US" dirty="0"/>
          </a:p>
        </p:txBody>
      </p:sp>
      <p:sp>
        <p:nvSpPr>
          <p:cNvPr id="5" name="Footer Placeholder 4"/>
          <p:cNvSpPr>
            <a:spLocks noGrp="1"/>
          </p:cNvSpPr>
          <p:nvPr>
            <p:ph type="ftr" sz="quarter" idx="11"/>
          </p:nvPr>
        </p:nvSpPr>
        <p:spPr/>
        <p:txBody>
          <a:bodyPr/>
          <a:lstStyle/>
          <a:p>
            <a:r>
              <a:rPr lang="en-US"/>
              <a:t>JSPM’s BSIOTR, Wagholi, Pune</a:t>
            </a:r>
            <a:endParaRPr lang="en-US" dirty="0"/>
          </a:p>
        </p:txBody>
      </p:sp>
      <p:sp>
        <p:nvSpPr>
          <p:cNvPr id="6" name="Slide Number Placeholder 5"/>
          <p:cNvSpPr>
            <a:spLocks noGrp="1"/>
          </p:cNvSpPr>
          <p:nvPr>
            <p:ph type="sldNum" sz="quarter" idx="12"/>
          </p:nvPr>
        </p:nvSpPr>
        <p:spPr/>
        <p:txBody>
          <a:bodyPr/>
          <a:lstStyle/>
          <a:p>
            <a:fld id="{7161C815-E3C8-4F84-A404-75109D49E891}"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3A5ED1C-63CF-4A02-8387-B0E38AB4B298}" type="datetime1">
              <a:rPr lang="en-US" smtClean="0"/>
              <a:t>3/17/2023</a:t>
            </a:fld>
            <a:endParaRPr lang="en-US" dirty="0"/>
          </a:p>
        </p:txBody>
      </p:sp>
      <p:sp>
        <p:nvSpPr>
          <p:cNvPr id="5" name="Footer Placeholder 4"/>
          <p:cNvSpPr>
            <a:spLocks noGrp="1"/>
          </p:cNvSpPr>
          <p:nvPr>
            <p:ph type="ftr" sz="quarter" idx="11"/>
          </p:nvPr>
        </p:nvSpPr>
        <p:spPr/>
        <p:txBody>
          <a:bodyPr/>
          <a:lstStyle/>
          <a:p>
            <a:r>
              <a:rPr lang="en-US"/>
              <a:t>JSPM’s BSIOTR, Wagholi, Pune</a:t>
            </a:r>
            <a:endParaRPr lang="en-US" dirty="0"/>
          </a:p>
        </p:txBody>
      </p:sp>
      <p:sp>
        <p:nvSpPr>
          <p:cNvPr id="6" name="Slide Number Placeholder 5"/>
          <p:cNvSpPr>
            <a:spLocks noGrp="1"/>
          </p:cNvSpPr>
          <p:nvPr>
            <p:ph type="sldNum" sz="quarter" idx="12"/>
          </p:nvPr>
        </p:nvSpPr>
        <p:spPr/>
        <p:txBody>
          <a:bodyPr/>
          <a:lstStyle/>
          <a:p>
            <a:fld id="{7161C815-E3C8-4F84-A404-75109D49E891}"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157D176-19F7-43EB-B97A-6AB1874ECA37}" type="datetime1">
              <a:rPr lang="en-US" smtClean="0"/>
              <a:t>3/17/2023</a:t>
            </a:fld>
            <a:endParaRPr lang="en-US" dirty="0"/>
          </a:p>
        </p:txBody>
      </p:sp>
      <p:sp>
        <p:nvSpPr>
          <p:cNvPr id="6" name="Footer Placeholder 5"/>
          <p:cNvSpPr>
            <a:spLocks noGrp="1"/>
          </p:cNvSpPr>
          <p:nvPr>
            <p:ph type="ftr" sz="quarter" idx="11"/>
          </p:nvPr>
        </p:nvSpPr>
        <p:spPr/>
        <p:txBody>
          <a:bodyPr/>
          <a:lstStyle/>
          <a:p>
            <a:r>
              <a:rPr lang="en-US"/>
              <a:t>JSPM’s BSIOTR, Wagholi, Pune</a:t>
            </a:r>
            <a:endParaRPr lang="en-US" dirty="0"/>
          </a:p>
        </p:txBody>
      </p:sp>
      <p:sp>
        <p:nvSpPr>
          <p:cNvPr id="7" name="Slide Number Placeholder 6"/>
          <p:cNvSpPr>
            <a:spLocks noGrp="1"/>
          </p:cNvSpPr>
          <p:nvPr>
            <p:ph type="sldNum" sz="quarter" idx="12"/>
          </p:nvPr>
        </p:nvSpPr>
        <p:spPr/>
        <p:txBody>
          <a:bodyPr/>
          <a:lstStyle/>
          <a:p>
            <a:fld id="{7161C815-E3C8-4F84-A404-75109D49E891}"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5FDC3EF-8EE5-4767-A695-845925685480}" type="datetime1">
              <a:rPr lang="en-US" smtClean="0"/>
              <a:t>3/17/2023</a:t>
            </a:fld>
            <a:endParaRPr lang="en-US" dirty="0"/>
          </a:p>
        </p:txBody>
      </p:sp>
      <p:sp>
        <p:nvSpPr>
          <p:cNvPr id="8" name="Footer Placeholder 7"/>
          <p:cNvSpPr>
            <a:spLocks noGrp="1"/>
          </p:cNvSpPr>
          <p:nvPr>
            <p:ph type="ftr" sz="quarter" idx="11"/>
          </p:nvPr>
        </p:nvSpPr>
        <p:spPr/>
        <p:txBody>
          <a:bodyPr/>
          <a:lstStyle/>
          <a:p>
            <a:r>
              <a:rPr lang="en-US"/>
              <a:t>JSPM’s BSIOTR, Wagholi, Pune</a:t>
            </a:r>
            <a:endParaRPr lang="en-US" dirty="0"/>
          </a:p>
        </p:txBody>
      </p:sp>
      <p:sp>
        <p:nvSpPr>
          <p:cNvPr id="9" name="Slide Number Placeholder 8"/>
          <p:cNvSpPr>
            <a:spLocks noGrp="1"/>
          </p:cNvSpPr>
          <p:nvPr>
            <p:ph type="sldNum" sz="quarter" idx="12"/>
          </p:nvPr>
        </p:nvSpPr>
        <p:spPr/>
        <p:txBody>
          <a:bodyPr/>
          <a:lstStyle/>
          <a:p>
            <a:fld id="{7161C815-E3C8-4F84-A404-75109D49E891}"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62D1F7D-839C-4812-A4B4-1066D56EAC2E}" type="datetime1">
              <a:rPr lang="en-US" smtClean="0"/>
              <a:t>3/17/2023</a:t>
            </a:fld>
            <a:endParaRPr lang="en-US" dirty="0"/>
          </a:p>
        </p:txBody>
      </p:sp>
      <p:sp>
        <p:nvSpPr>
          <p:cNvPr id="4" name="Footer Placeholder 3"/>
          <p:cNvSpPr>
            <a:spLocks noGrp="1"/>
          </p:cNvSpPr>
          <p:nvPr>
            <p:ph type="ftr" sz="quarter" idx="11"/>
          </p:nvPr>
        </p:nvSpPr>
        <p:spPr/>
        <p:txBody>
          <a:bodyPr/>
          <a:lstStyle/>
          <a:p>
            <a:r>
              <a:rPr lang="en-US"/>
              <a:t>JSPM’s BSIOTR, Wagholi, Pune</a:t>
            </a:r>
            <a:endParaRPr lang="en-US" dirty="0"/>
          </a:p>
        </p:txBody>
      </p:sp>
      <p:sp>
        <p:nvSpPr>
          <p:cNvPr id="5" name="Slide Number Placeholder 4"/>
          <p:cNvSpPr>
            <a:spLocks noGrp="1"/>
          </p:cNvSpPr>
          <p:nvPr>
            <p:ph type="sldNum" sz="quarter" idx="12"/>
          </p:nvPr>
        </p:nvSpPr>
        <p:spPr/>
        <p:txBody>
          <a:bodyPr/>
          <a:lstStyle/>
          <a:p>
            <a:fld id="{7161C815-E3C8-4F84-A404-75109D49E891}"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9F2AF3-9C05-4B9A-877E-7EF1875C0193}" type="datetime1">
              <a:rPr lang="en-US" smtClean="0"/>
              <a:t>3/17/2023</a:t>
            </a:fld>
            <a:endParaRPr lang="en-US" dirty="0"/>
          </a:p>
        </p:txBody>
      </p:sp>
      <p:sp>
        <p:nvSpPr>
          <p:cNvPr id="3" name="Footer Placeholder 2"/>
          <p:cNvSpPr>
            <a:spLocks noGrp="1"/>
          </p:cNvSpPr>
          <p:nvPr>
            <p:ph type="ftr" sz="quarter" idx="11"/>
          </p:nvPr>
        </p:nvSpPr>
        <p:spPr/>
        <p:txBody>
          <a:bodyPr/>
          <a:lstStyle/>
          <a:p>
            <a:r>
              <a:rPr lang="en-US"/>
              <a:t>JSPM’s BSIOTR, Wagholi, Pune</a:t>
            </a:r>
            <a:endParaRPr lang="en-US" dirty="0"/>
          </a:p>
        </p:txBody>
      </p:sp>
      <p:sp>
        <p:nvSpPr>
          <p:cNvPr id="4" name="Slide Number Placeholder 3"/>
          <p:cNvSpPr>
            <a:spLocks noGrp="1"/>
          </p:cNvSpPr>
          <p:nvPr>
            <p:ph type="sldNum" sz="quarter" idx="12"/>
          </p:nvPr>
        </p:nvSpPr>
        <p:spPr/>
        <p:txBody>
          <a:bodyPr/>
          <a:lstStyle/>
          <a:p>
            <a:fld id="{7161C815-E3C8-4F84-A404-75109D49E891}"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1B1CBC0-B098-4894-AA78-DAFD6BC78769}" type="datetime1">
              <a:rPr lang="en-US" smtClean="0"/>
              <a:t>3/17/2023</a:t>
            </a:fld>
            <a:endParaRPr lang="en-US" dirty="0"/>
          </a:p>
        </p:txBody>
      </p:sp>
      <p:sp>
        <p:nvSpPr>
          <p:cNvPr id="6" name="Footer Placeholder 5"/>
          <p:cNvSpPr>
            <a:spLocks noGrp="1"/>
          </p:cNvSpPr>
          <p:nvPr>
            <p:ph type="ftr" sz="quarter" idx="11"/>
          </p:nvPr>
        </p:nvSpPr>
        <p:spPr/>
        <p:txBody>
          <a:bodyPr/>
          <a:lstStyle/>
          <a:p>
            <a:r>
              <a:rPr lang="en-US"/>
              <a:t>JSPM’s BSIOTR, Wagholi, Pune</a:t>
            </a:r>
            <a:endParaRPr lang="en-US" dirty="0"/>
          </a:p>
        </p:txBody>
      </p:sp>
      <p:sp>
        <p:nvSpPr>
          <p:cNvPr id="7" name="Slide Number Placeholder 6"/>
          <p:cNvSpPr>
            <a:spLocks noGrp="1"/>
          </p:cNvSpPr>
          <p:nvPr>
            <p:ph type="sldNum" sz="quarter" idx="12"/>
          </p:nvPr>
        </p:nvSpPr>
        <p:spPr/>
        <p:txBody>
          <a:bodyPr/>
          <a:lstStyle/>
          <a:p>
            <a:fld id="{7161C815-E3C8-4F84-A404-75109D49E891}"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6D4D6F-F95A-4124-ABA8-633207A65397}" type="datetime1">
              <a:rPr lang="en-US" smtClean="0"/>
              <a:t>3/17/2023</a:t>
            </a:fld>
            <a:endParaRPr lang="en-US" dirty="0"/>
          </a:p>
        </p:txBody>
      </p:sp>
      <p:sp>
        <p:nvSpPr>
          <p:cNvPr id="6" name="Footer Placeholder 5"/>
          <p:cNvSpPr>
            <a:spLocks noGrp="1"/>
          </p:cNvSpPr>
          <p:nvPr>
            <p:ph type="ftr" sz="quarter" idx="11"/>
          </p:nvPr>
        </p:nvSpPr>
        <p:spPr/>
        <p:txBody>
          <a:bodyPr/>
          <a:lstStyle/>
          <a:p>
            <a:r>
              <a:rPr lang="en-US"/>
              <a:t>JSPM’s BSIOTR, Wagholi, Pune</a:t>
            </a:r>
            <a:endParaRPr lang="en-US" dirty="0"/>
          </a:p>
        </p:txBody>
      </p:sp>
      <p:sp>
        <p:nvSpPr>
          <p:cNvPr id="7" name="Slide Number Placeholder 6"/>
          <p:cNvSpPr>
            <a:spLocks noGrp="1"/>
          </p:cNvSpPr>
          <p:nvPr>
            <p:ph type="sldNum" sz="quarter" idx="12"/>
          </p:nvPr>
        </p:nvSpPr>
        <p:spPr/>
        <p:txBody>
          <a:bodyPr/>
          <a:lstStyle/>
          <a:p>
            <a:fld id="{7161C815-E3C8-4F84-A404-75109D49E891}"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4F829D-985D-4DE4-A763-49BE401539AB}" type="datetime1">
              <a:rPr lang="en-US" smtClean="0"/>
              <a:t>3/17/2023</a:t>
            </a:fld>
            <a:endParaRPr lang="en-US" dirty="0"/>
          </a:p>
        </p:txBody>
      </p:sp>
      <p:sp>
        <p:nvSpPr>
          <p:cNvPr id="5" name="Footer Placeholder 4"/>
          <p:cNvSpPr>
            <a:spLocks noGrp="1"/>
          </p:cNvSpPr>
          <p:nvPr>
            <p:ph type="ftr" sz="quarter" idx="11"/>
          </p:nvPr>
        </p:nvSpPr>
        <p:spPr/>
        <p:txBody>
          <a:bodyPr/>
          <a:lstStyle/>
          <a:p>
            <a:r>
              <a:rPr lang="en-US"/>
              <a:t>JSPM’s BSIOTR, Wagholi, Pune</a:t>
            </a:r>
            <a:endParaRPr lang="en-US" dirty="0"/>
          </a:p>
        </p:txBody>
      </p:sp>
      <p:sp>
        <p:nvSpPr>
          <p:cNvPr id="6" name="Slide Number Placeholder 5"/>
          <p:cNvSpPr>
            <a:spLocks noGrp="1"/>
          </p:cNvSpPr>
          <p:nvPr>
            <p:ph type="sldNum" sz="quarter" idx="12"/>
          </p:nvPr>
        </p:nvSpPr>
        <p:spPr/>
        <p:txBody>
          <a:bodyPr/>
          <a:lstStyle/>
          <a:p>
            <a:fld id="{7161C815-E3C8-4F84-A404-75109D49E891}"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811FBF1-F55E-40C3-A342-06488905C609}" type="datetime1">
              <a:rPr lang="en-US" smtClean="0"/>
              <a:t>3/17/2023</a:t>
            </a:fld>
            <a:endParaRPr lang="en-US" dirty="0"/>
          </a:p>
        </p:txBody>
      </p:sp>
      <p:sp>
        <p:nvSpPr>
          <p:cNvPr id="5" name="Footer Placeholder 4"/>
          <p:cNvSpPr>
            <a:spLocks noGrp="1"/>
          </p:cNvSpPr>
          <p:nvPr>
            <p:ph type="ftr" sz="quarter" idx="11"/>
          </p:nvPr>
        </p:nvSpPr>
        <p:spPr/>
        <p:txBody>
          <a:bodyPr/>
          <a:lstStyle/>
          <a:p>
            <a:r>
              <a:rPr lang="en-US"/>
              <a:t>JSPM’s BSIOTR, Wagholi, Pune</a:t>
            </a:r>
            <a:endParaRPr lang="en-US" dirty="0"/>
          </a:p>
        </p:txBody>
      </p:sp>
      <p:sp>
        <p:nvSpPr>
          <p:cNvPr id="6" name="Slide Number Placeholder 5"/>
          <p:cNvSpPr>
            <a:spLocks noGrp="1"/>
          </p:cNvSpPr>
          <p:nvPr>
            <p:ph type="sldNum" sz="quarter" idx="12"/>
          </p:nvPr>
        </p:nvSpPr>
        <p:spPr/>
        <p:txBody>
          <a:bodyPr/>
          <a:lstStyle/>
          <a:p>
            <a:fld id="{7161C815-E3C8-4F84-A404-75109D49E891}"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F6F771-BFC2-4D73-A1C3-82771D3474FD}" type="datetime1">
              <a:rPr lang="en-US" smtClean="0"/>
              <a:t>3/17/2023</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JSPM’s BSIOTR, Wagholi, Pune</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61C815-E3C8-4F84-A404-75109D49E891}"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jfif"/><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28600" y="1981200"/>
            <a:ext cx="8458200" cy="1981200"/>
          </a:xfrm>
          <a:prstGeom prst="rect">
            <a:avLst/>
          </a:prstGeom>
        </p:spPr>
        <p:txBody>
          <a:bodyPr vert="horz" lIns="91440" tIns="45720" rIns="91440" bIns="45720" rtlCol="0" anchor="ctr">
            <a:normAutofit fontScale="850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35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   </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35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Project Revie</a:t>
            </a:r>
            <a:r>
              <a:rPr lang="en-US" altLang="en-US" sz="3500" b="1" dirty="0">
                <a:latin typeface="Times New Roman" pitchFamily="18" charset="0"/>
                <a:ea typeface="+mj-ea"/>
                <a:cs typeface="Times New Roman" pitchFamily="18" charset="0"/>
              </a:rPr>
              <a:t>w </a:t>
            </a:r>
            <a:r>
              <a:rPr kumimoji="0" lang="en-US" altLang="en-US" sz="35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- 3</a:t>
            </a:r>
            <a:br>
              <a:rPr kumimoji="0" lang="en-US" altLang="en-US" sz="35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kumimoji="0" lang="en-US" altLang="en-US" sz="35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 </a:t>
            </a:r>
            <a:br>
              <a:rPr kumimoji="0" lang="en-US" altLang="en-US" sz="35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kumimoji="0" lang="en-US" altLang="en-US" sz="35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“A Novel Approach For Blood </a:t>
            </a:r>
            <a:r>
              <a:rPr lang="en-US" altLang="en-US" sz="3500" b="1" dirty="0">
                <a:latin typeface="Times New Roman" pitchFamily="18" charset="0"/>
                <a:ea typeface="+mj-ea"/>
                <a:cs typeface="Times New Roman" pitchFamily="18" charset="0"/>
              </a:rPr>
              <a:t>Bank And Donor Management </a:t>
            </a:r>
            <a:r>
              <a:rPr kumimoji="0" lang="en-US" altLang="en-US" sz="35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system”</a:t>
            </a:r>
          </a:p>
        </p:txBody>
      </p:sp>
      <p:sp>
        <p:nvSpPr>
          <p:cNvPr id="5" name="Subtitle 2"/>
          <p:cNvSpPr txBox="1">
            <a:spLocks/>
          </p:cNvSpPr>
          <p:nvPr/>
        </p:nvSpPr>
        <p:spPr>
          <a:xfrm>
            <a:off x="2667000" y="5791200"/>
            <a:ext cx="4191000" cy="457200"/>
          </a:xfrm>
          <a:prstGeom prst="rect">
            <a:avLst/>
          </a:prstGeom>
        </p:spPr>
        <p:txBody>
          <a:bodyPr vert="horz" lIns="91440" tIns="45720" rIns="91440" bIns="45720" rtlCol="0">
            <a:normAutofit fontScale="85000" lnSpcReduction="10000"/>
          </a:bodyPr>
          <a:lstStyle/>
          <a:p>
            <a:pPr marL="0" marR="0" lvl="0" indent="0" algn="ctr" defTabSz="914400" rtl="0" eaLnBrk="1" fontAlgn="auto" latinLnBrk="0" hangingPunct="1">
              <a:lnSpc>
                <a:spcPct val="80000"/>
              </a:lnSpc>
              <a:spcBef>
                <a:spcPct val="20000"/>
              </a:spcBef>
              <a:spcAft>
                <a:spcPts val="0"/>
              </a:spcAft>
              <a:buClrTx/>
              <a:buSzTx/>
              <a:buFont typeface="Arial" pitchFamily="34" charset="0"/>
              <a:buNone/>
              <a:tabLst/>
              <a:defRPr/>
            </a:pPr>
            <a:r>
              <a:rPr kumimoji="0" lang="en-GB" altLang="en-US" sz="2200" b="1"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Guided By </a:t>
            </a:r>
            <a:r>
              <a:rPr kumimoji="0" lang="en-GB" altLang="en-US" sz="22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 </a:t>
            </a:r>
            <a:r>
              <a:rPr kumimoji="0" lang="en-GB" altLang="en-US" sz="2200" b="1"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Prof. </a:t>
            </a:r>
            <a:r>
              <a:rPr kumimoji="0" lang="en-GB" altLang="en-US" sz="2200" b="1" i="0" u="none" strike="noStrike" kern="1200" cap="none" spc="0" normalizeH="0" baseline="0" noProof="0" dirty="0" err="1">
                <a:ln>
                  <a:noFill/>
                </a:ln>
                <a:solidFill>
                  <a:schemeClr val="tx1"/>
                </a:solidFill>
                <a:effectLst/>
                <a:uLnTx/>
                <a:uFillTx/>
                <a:latin typeface="Times New Roman" pitchFamily="18" charset="0"/>
                <a:cs typeface="Times New Roman" pitchFamily="18" charset="0"/>
              </a:rPr>
              <a:t>Bhagyshree</a:t>
            </a:r>
            <a:r>
              <a:rPr kumimoji="0" lang="en-GB" altLang="en-US" sz="2200" b="1"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 Kadam</a:t>
            </a:r>
          </a:p>
        </p:txBody>
      </p:sp>
      <p:sp>
        <p:nvSpPr>
          <p:cNvPr id="6" name="Rectangle 4"/>
          <p:cNvSpPr>
            <a:spLocks noChangeArrowheads="1"/>
          </p:cNvSpPr>
          <p:nvPr/>
        </p:nvSpPr>
        <p:spPr bwMode="auto">
          <a:xfrm>
            <a:off x="1600200" y="58444"/>
            <a:ext cx="5943600" cy="1569660"/>
          </a:xfrm>
          <a:prstGeom prst="rect">
            <a:avLst/>
          </a:prstGeom>
          <a:noFill/>
          <a:ln w="9525">
            <a:noFill/>
            <a:miter lim="800000"/>
            <a:headEnd/>
            <a:tailEnd/>
          </a:ln>
        </p:spPr>
        <p:txBody>
          <a:bodyPr wrap="square" anchor="ctr">
            <a:spAutoFit/>
          </a:bodyPr>
          <a:lstStyle/>
          <a:p>
            <a:pPr algn="ctr" eaLnBrk="1" hangingPunct="1"/>
            <a:r>
              <a:rPr lang="en-US" altLang="en-US" sz="2800" dirty="0">
                <a:solidFill>
                  <a:srgbClr val="FF0000"/>
                </a:solidFill>
                <a:latin typeface="Times New Roman" pitchFamily="18" charset="0"/>
                <a:cs typeface="Times New Roman" pitchFamily="18" charset="0"/>
              </a:rPr>
              <a:t> JSPM’s </a:t>
            </a:r>
          </a:p>
          <a:p>
            <a:pPr algn="ctr" eaLnBrk="1" hangingPunct="1"/>
            <a:r>
              <a:rPr lang="en-US" altLang="en-US" sz="2600" dirty="0">
                <a:solidFill>
                  <a:srgbClr val="FF0000"/>
                </a:solidFill>
                <a:latin typeface="Times New Roman" pitchFamily="18" charset="0"/>
                <a:cs typeface="Times New Roman" pitchFamily="18" charset="0"/>
              </a:rPr>
              <a:t>Bhivarabai Sawant Institute of Technology &amp; Research </a:t>
            </a:r>
            <a:br>
              <a:rPr lang="en-US" altLang="en-US" sz="2600" dirty="0">
                <a:latin typeface="Times New Roman" pitchFamily="18" charset="0"/>
                <a:cs typeface="Times New Roman" pitchFamily="18" charset="0"/>
              </a:rPr>
            </a:br>
            <a:r>
              <a:rPr lang="en-GB" altLang="en-US" sz="1600" b="1" dirty="0">
                <a:solidFill>
                  <a:srgbClr val="0070C0"/>
                </a:solidFill>
                <a:latin typeface="Times New Roman" pitchFamily="18" charset="0"/>
                <a:cs typeface="Times New Roman" pitchFamily="18" charset="0"/>
              </a:rPr>
              <a:t>Accredited with ‘B++’ Grade by NAAC</a:t>
            </a:r>
            <a:r>
              <a:rPr lang="en-GB" altLang="en-US" sz="1600" dirty="0">
                <a:solidFill>
                  <a:srgbClr val="0070C0"/>
                </a:solidFill>
                <a:latin typeface="Times New Roman" pitchFamily="18" charset="0"/>
                <a:cs typeface="Times New Roman" pitchFamily="18" charset="0"/>
              </a:rPr>
              <a:t> </a:t>
            </a:r>
            <a:endParaRPr lang="en-IN" altLang="en-US" sz="1600" dirty="0">
              <a:solidFill>
                <a:srgbClr val="0070C0"/>
              </a:solidFill>
              <a:latin typeface="Times New Roman" pitchFamily="18" charset="0"/>
              <a:cs typeface="Times New Roman" pitchFamily="18" charset="0"/>
            </a:endParaRPr>
          </a:p>
        </p:txBody>
      </p:sp>
      <p:sp>
        <p:nvSpPr>
          <p:cNvPr id="7" name="Subtitle 2"/>
          <p:cNvSpPr txBox="1">
            <a:spLocks/>
          </p:cNvSpPr>
          <p:nvPr/>
        </p:nvSpPr>
        <p:spPr>
          <a:xfrm>
            <a:off x="2514600" y="3962400"/>
            <a:ext cx="4191000" cy="1600200"/>
          </a:xfrm>
          <a:prstGeom prst="rect">
            <a:avLst/>
          </a:prstGeom>
        </p:spPr>
        <p:txBody>
          <a:bodyPr anchor="b">
            <a:normAutofit fontScale="25000" lnSpcReduction="20000"/>
          </a:bodyPr>
          <a:lstStyle/>
          <a:p>
            <a:pPr algn="ctr" eaLnBrk="1" fontAlgn="auto" hangingPunct="1">
              <a:spcBef>
                <a:spcPct val="20000"/>
              </a:spcBef>
              <a:spcAft>
                <a:spcPts val="0"/>
              </a:spcAft>
              <a:buClr>
                <a:schemeClr val="accent1"/>
              </a:buClr>
              <a:buSzPct val="70000"/>
              <a:buFont typeface="Wingdings 2"/>
              <a:buNone/>
              <a:defRPr/>
            </a:pPr>
            <a:r>
              <a:rPr lang="en-GB" sz="2400" dirty="0">
                <a:latin typeface="Times New Roman" pitchFamily="18" charset="0"/>
                <a:cs typeface="Times New Roman" pitchFamily="18" charset="0"/>
              </a:rPr>
              <a:t>  </a:t>
            </a:r>
            <a:r>
              <a:rPr lang="en-GB" sz="9600" b="1" dirty="0">
                <a:latin typeface="Times New Roman" pitchFamily="18" charset="0"/>
                <a:cs typeface="Times New Roman" pitchFamily="18" charset="0"/>
              </a:rPr>
              <a:t>Presented By </a:t>
            </a:r>
            <a:r>
              <a:rPr lang="en-GB" sz="7200" b="1" dirty="0">
                <a:latin typeface="Times New Roman" pitchFamily="18" charset="0"/>
                <a:cs typeface="Times New Roman" pitchFamily="18" charset="0"/>
              </a:rPr>
              <a:t>:</a:t>
            </a:r>
          </a:p>
          <a:p>
            <a:pPr algn="ctr" eaLnBrk="1" fontAlgn="auto" hangingPunct="1">
              <a:spcBef>
                <a:spcPct val="20000"/>
              </a:spcBef>
              <a:spcAft>
                <a:spcPts val="0"/>
              </a:spcAft>
              <a:buClr>
                <a:schemeClr val="accent1"/>
              </a:buClr>
              <a:buSzPct val="70000"/>
              <a:buFont typeface="Wingdings 2"/>
              <a:buNone/>
              <a:defRPr/>
            </a:pPr>
            <a:endParaRPr lang="en-GB" sz="3200" b="1" dirty="0">
              <a:latin typeface="Times New Roman" pitchFamily="18" charset="0"/>
              <a:cs typeface="Times New Roman" pitchFamily="18" charset="0"/>
            </a:endParaRPr>
          </a:p>
          <a:p>
            <a:pPr algn="ctr" eaLnBrk="1" fontAlgn="auto" hangingPunct="1">
              <a:spcBef>
                <a:spcPct val="20000"/>
              </a:spcBef>
              <a:spcAft>
                <a:spcPts val="0"/>
              </a:spcAft>
              <a:buClr>
                <a:schemeClr val="accent1"/>
              </a:buClr>
              <a:buSzPct val="70000"/>
              <a:buFont typeface="Wingdings 2"/>
              <a:buNone/>
              <a:defRPr/>
            </a:pPr>
            <a:r>
              <a:rPr lang="en-GB" sz="6400" dirty="0">
                <a:latin typeface="Times New Roman" pitchFamily="18" charset="0"/>
                <a:cs typeface="Times New Roman" pitchFamily="18" charset="0"/>
              </a:rPr>
              <a:t>Mr. Aniket </a:t>
            </a:r>
            <a:r>
              <a:rPr lang="en-GB" sz="6400" dirty="0" err="1">
                <a:latin typeface="Times New Roman" pitchFamily="18" charset="0"/>
                <a:cs typeface="Times New Roman" pitchFamily="18" charset="0"/>
              </a:rPr>
              <a:t>Khalate</a:t>
            </a:r>
            <a:r>
              <a:rPr lang="en-GB" sz="6400" dirty="0">
                <a:latin typeface="Times New Roman" pitchFamily="18" charset="0"/>
                <a:cs typeface="Times New Roman" pitchFamily="18" charset="0"/>
              </a:rPr>
              <a:t> (72033470F)</a:t>
            </a:r>
          </a:p>
          <a:p>
            <a:pPr algn="ctr" eaLnBrk="1" fontAlgn="auto" hangingPunct="1">
              <a:spcBef>
                <a:spcPct val="20000"/>
              </a:spcBef>
              <a:spcAft>
                <a:spcPts val="0"/>
              </a:spcAft>
              <a:buClr>
                <a:schemeClr val="accent1"/>
              </a:buClr>
              <a:buSzPct val="70000"/>
              <a:buFont typeface="Wingdings 2"/>
              <a:buNone/>
              <a:defRPr/>
            </a:pPr>
            <a:r>
              <a:rPr lang="en-GB" sz="6400" dirty="0">
                <a:latin typeface="Times New Roman" pitchFamily="18" charset="0"/>
                <a:cs typeface="Times New Roman" pitchFamily="18" charset="0"/>
              </a:rPr>
              <a:t> Mr. Ajay </a:t>
            </a:r>
            <a:r>
              <a:rPr lang="en-GB" sz="6400" dirty="0" err="1">
                <a:latin typeface="Times New Roman" pitchFamily="18" charset="0"/>
                <a:cs typeface="Times New Roman" pitchFamily="18" charset="0"/>
              </a:rPr>
              <a:t>Sonawale</a:t>
            </a:r>
            <a:r>
              <a:rPr lang="en-GB" sz="6400" dirty="0">
                <a:latin typeface="Times New Roman" pitchFamily="18" charset="0"/>
                <a:cs typeface="Times New Roman" pitchFamily="18" charset="0"/>
              </a:rPr>
              <a:t> (72033577K)</a:t>
            </a:r>
          </a:p>
          <a:p>
            <a:pPr algn="ctr" eaLnBrk="1" fontAlgn="auto" hangingPunct="1">
              <a:spcBef>
                <a:spcPct val="20000"/>
              </a:spcBef>
              <a:spcAft>
                <a:spcPts val="0"/>
              </a:spcAft>
              <a:buClr>
                <a:schemeClr val="accent1"/>
              </a:buClr>
              <a:buSzPct val="70000"/>
              <a:buFont typeface="Wingdings 2"/>
              <a:buNone/>
              <a:defRPr/>
            </a:pPr>
            <a:r>
              <a:rPr lang="en-GB" sz="6400" dirty="0">
                <a:latin typeface="Times New Roman" pitchFamily="18" charset="0"/>
                <a:cs typeface="Times New Roman" pitchFamily="18" charset="0"/>
              </a:rPr>
              <a:t> Mr. </a:t>
            </a:r>
            <a:r>
              <a:rPr lang="en-GB" sz="6400" dirty="0" err="1">
                <a:latin typeface="Times New Roman" pitchFamily="18" charset="0"/>
                <a:cs typeface="Times New Roman" pitchFamily="18" charset="0"/>
              </a:rPr>
              <a:t>Akshay</a:t>
            </a:r>
            <a:r>
              <a:rPr lang="en-GB" sz="6400" dirty="0">
                <a:latin typeface="Times New Roman" pitchFamily="18" charset="0"/>
                <a:cs typeface="Times New Roman" pitchFamily="18" charset="0"/>
              </a:rPr>
              <a:t> </a:t>
            </a:r>
            <a:r>
              <a:rPr lang="en-GB" sz="6400" dirty="0" err="1">
                <a:latin typeface="Times New Roman" pitchFamily="18" charset="0"/>
                <a:cs typeface="Times New Roman" pitchFamily="18" charset="0"/>
              </a:rPr>
              <a:t>Bankar</a:t>
            </a:r>
            <a:r>
              <a:rPr lang="en-GB" sz="6400" dirty="0">
                <a:latin typeface="Times New Roman" pitchFamily="18" charset="0"/>
                <a:cs typeface="Times New Roman" pitchFamily="18" charset="0"/>
              </a:rPr>
              <a:t> (71918445C)</a:t>
            </a:r>
          </a:p>
          <a:p>
            <a:pPr eaLnBrk="1" fontAlgn="auto" hangingPunct="1">
              <a:spcBef>
                <a:spcPct val="20000"/>
              </a:spcBef>
              <a:spcAft>
                <a:spcPts val="0"/>
              </a:spcAft>
              <a:buClr>
                <a:schemeClr val="accent1"/>
              </a:buClr>
              <a:buSzPct val="70000"/>
              <a:buFont typeface="Wingdings 2"/>
              <a:buNone/>
              <a:defRPr/>
            </a:pPr>
            <a:r>
              <a:rPr lang="en-GB" sz="6400" dirty="0">
                <a:latin typeface="Times New Roman" pitchFamily="18" charset="0"/>
                <a:cs typeface="Times New Roman" pitchFamily="18" charset="0"/>
              </a:rPr>
              <a:t>             Mr. Suraj Tupkar (72033593M)</a:t>
            </a:r>
          </a:p>
        </p:txBody>
      </p:sp>
      <p:sp>
        <p:nvSpPr>
          <p:cNvPr id="10" name="Rectangle 1"/>
          <p:cNvSpPr>
            <a:spLocks noChangeArrowheads="1"/>
          </p:cNvSpPr>
          <p:nvPr/>
        </p:nvSpPr>
        <p:spPr bwMode="auto">
          <a:xfrm>
            <a:off x="1828800" y="1676400"/>
            <a:ext cx="6222216" cy="523220"/>
          </a:xfrm>
          <a:prstGeom prst="rect">
            <a:avLst/>
          </a:prstGeom>
          <a:noFill/>
          <a:ln w="9525">
            <a:noFill/>
            <a:miter lim="800000"/>
            <a:headEnd/>
            <a:tailEnd/>
          </a:ln>
        </p:spPr>
        <p:txBody>
          <a:bodyPr wrap="none">
            <a:spAutoFit/>
          </a:bodyPr>
          <a:lstStyle/>
          <a:p>
            <a:pPr eaLnBrk="1" hangingPunct="1"/>
            <a:r>
              <a:rPr lang="en-US" altLang="en-US" sz="2800" b="1" dirty="0">
                <a:latin typeface="Times New Roman" pitchFamily="18" charset="0"/>
                <a:cs typeface="Times New Roman" pitchFamily="18" charset="0"/>
              </a:rPr>
              <a:t>Department of Information Technology</a:t>
            </a:r>
          </a:p>
        </p:txBody>
      </p:sp>
      <p:pic>
        <p:nvPicPr>
          <p:cNvPr id="18" name="Picture 7" descr="Description: Description: Description: Description: Description: I:\ALL PICTURE\JSPM LOGO.JPG"/>
          <p:cNvPicPr>
            <a:picLocks noChangeAspect="1" noChangeArrowheads="1"/>
          </p:cNvPicPr>
          <p:nvPr/>
        </p:nvPicPr>
        <p:blipFill>
          <a:blip r:embed="rId2" cstate="print"/>
          <a:srcRect/>
          <a:stretch>
            <a:fillRect/>
          </a:stretch>
        </p:blipFill>
        <p:spPr bwMode="auto">
          <a:xfrm>
            <a:off x="132893" y="266405"/>
            <a:ext cx="1467307" cy="1278506"/>
          </a:xfrm>
          <a:prstGeom prst="rect">
            <a:avLst/>
          </a:prstGeom>
          <a:noFill/>
          <a:ln w="9525">
            <a:noFill/>
            <a:miter lim="800000"/>
            <a:headEnd/>
            <a:tailEnd/>
          </a:ln>
        </p:spPr>
      </p:pic>
      <p:pic>
        <p:nvPicPr>
          <p:cNvPr id="19" name="Picture 3" descr="C:\Users\HODCOMP\Desktop\CE3AF389D59DDB81.jpg"/>
          <p:cNvPicPr>
            <a:picLocks noChangeAspect="1" noChangeArrowheads="1"/>
          </p:cNvPicPr>
          <p:nvPr/>
        </p:nvPicPr>
        <p:blipFill>
          <a:blip r:embed="rId3" cstate="print"/>
          <a:srcRect/>
          <a:stretch>
            <a:fillRect/>
          </a:stretch>
        </p:blipFill>
        <p:spPr bwMode="auto">
          <a:xfrm>
            <a:off x="7543800" y="152400"/>
            <a:ext cx="1330525" cy="1295401"/>
          </a:xfrm>
          <a:prstGeom prst="rect">
            <a:avLst/>
          </a:prstGeom>
          <a:noFill/>
          <a:ln w="9525">
            <a:noFill/>
            <a:miter lim="8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7744"/>
            <a:ext cx="8229600" cy="1143000"/>
          </a:xfrm>
        </p:spPr>
        <p:txBody>
          <a:bodyPr>
            <a:normAutofit/>
          </a:bodyPr>
          <a:lstStyle/>
          <a:p>
            <a:r>
              <a:rPr lang="en-US" sz="3600" b="1">
                <a:latin typeface="Times New Roman" pitchFamily="18" charset="0"/>
                <a:cs typeface="Times New Roman" pitchFamily="18" charset="0"/>
              </a:rPr>
              <a:t>Content</a:t>
            </a:r>
            <a:endParaRPr lang="en-US" sz="3600" b="1" dirty="0">
              <a:latin typeface="Times New Roman" pitchFamily="18" charset="0"/>
              <a:cs typeface="Times New Roman" pitchFamily="18" charset="0"/>
            </a:endParaRPr>
          </a:p>
        </p:txBody>
      </p:sp>
      <p:sp>
        <p:nvSpPr>
          <p:cNvPr id="11" name="Content Placeholder 10"/>
          <p:cNvSpPr>
            <a:spLocks noGrp="1"/>
          </p:cNvSpPr>
          <p:nvPr>
            <p:ph idx="1"/>
          </p:nvPr>
        </p:nvSpPr>
        <p:spPr>
          <a:xfrm>
            <a:off x="1371600" y="1834497"/>
            <a:ext cx="6629400" cy="4857656"/>
          </a:xfrm>
        </p:spPr>
        <p:txBody>
          <a:bodyPr>
            <a:noAutofit/>
          </a:bodyPr>
          <a:lstStyle/>
          <a:p>
            <a:pPr marL="342900" indent="-342900">
              <a:buFont typeface="Arial" pitchFamily="34" charset="0"/>
              <a:buChar char="•"/>
            </a:pPr>
            <a:r>
              <a:rPr lang="en-US" sz="1600" dirty="0">
                <a:latin typeface="Times New Roman" panose="02020603050405020304" pitchFamily="18" charset="0"/>
                <a:cs typeface="Times New Roman" panose="02020603050405020304" pitchFamily="18" charset="0"/>
              </a:rPr>
              <a:t>Introduction</a:t>
            </a:r>
          </a:p>
          <a:p>
            <a:pPr marL="342900" indent="-342900">
              <a:buFont typeface="Arial" pitchFamily="34" charset="0"/>
              <a:buChar char="•"/>
            </a:pPr>
            <a:r>
              <a:rPr lang="en-US" sz="1600" dirty="0">
                <a:latin typeface="Times New Roman" panose="02020603050405020304" pitchFamily="18" charset="0"/>
                <a:cs typeface="Times New Roman" panose="02020603050405020304" pitchFamily="18" charset="0"/>
              </a:rPr>
              <a:t>Motivation</a:t>
            </a:r>
          </a:p>
          <a:p>
            <a:pPr marL="342900" indent="-342900">
              <a:buFont typeface="Arial" pitchFamily="34" charset="0"/>
              <a:buChar char="•"/>
            </a:pPr>
            <a:r>
              <a:rPr lang="en-US" sz="1600" dirty="0">
                <a:latin typeface="Times New Roman" panose="02020603050405020304" pitchFamily="18" charset="0"/>
                <a:cs typeface="Times New Roman" panose="02020603050405020304" pitchFamily="18" charset="0"/>
              </a:rPr>
              <a:t>Problem Statement</a:t>
            </a:r>
          </a:p>
          <a:p>
            <a:r>
              <a:rPr lang="en-US" altLang="zh-CN" sz="1600" dirty="0">
                <a:latin typeface="Times New Roman" panose="02020603050405020304" pitchFamily="18" charset="0"/>
                <a:ea typeface="SimSun" pitchFamily="2" charset="-122"/>
                <a:cs typeface="Times New Roman" panose="02020603050405020304" pitchFamily="18" charset="0"/>
              </a:rPr>
              <a:t>Literature Survey</a:t>
            </a:r>
          </a:p>
          <a:p>
            <a:r>
              <a:rPr lang="en-US" sz="1600" dirty="0">
                <a:latin typeface="Times New Roman" panose="02020603050405020304" pitchFamily="18" charset="0"/>
                <a:ea typeface="SimSun" pitchFamily="2" charset="-122"/>
                <a:cs typeface="Times New Roman" panose="02020603050405020304" pitchFamily="18" charset="0"/>
              </a:rPr>
              <a:t>Existing System Vs Proposed System</a:t>
            </a:r>
          </a:p>
          <a:p>
            <a:r>
              <a:rPr lang="en-US" sz="1600" dirty="0">
                <a:latin typeface="Times New Roman" panose="02020603050405020304" pitchFamily="18" charset="0"/>
                <a:ea typeface="SimSun" pitchFamily="2" charset="-122"/>
                <a:cs typeface="Times New Roman" panose="02020603050405020304" pitchFamily="18" charset="0"/>
              </a:rPr>
              <a:t>System Architecture/Block Diagram</a:t>
            </a:r>
          </a:p>
          <a:p>
            <a:r>
              <a:rPr lang="en-US" sz="1600" dirty="0">
                <a:latin typeface="Times New Roman" panose="02020603050405020304" pitchFamily="18" charset="0"/>
                <a:cs typeface="Times New Roman" panose="02020603050405020304" pitchFamily="18" charset="0"/>
              </a:rPr>
              <a:t>Requirements(Software/Hardware)</a:t>
            </a:r>
          </a:p>
          <a:p>
            <a:pPr marL="342900" indent="-342900">
              <a:buFont typeface="Arial" pitchFamily="34" charset="0"/>
              <a:buChar char="•"/>
            </a:pPr>
            <a:r>
              <a:rPr lang="en-US" sz="1600" dirty="0">
                <a:latin typeface="Times New Roman" panose="02020603050405020304" pitchFamily="18" charset="0"/>
                <a:cs typeface="Times New Roman" panose="02020603050405020304" pitchFamily="18" charset="0"/>
              </a:rPr>
              <a:t>Methodologies</a:t>
            </a:r>
          </a:p>
          <a:p>
            <a:pPr marL="342900" indent="-342900">
              <a:buFont typeface="Arial" pitchFamily="34" charset="0"/>
              <a:buChar char="•"/>
            </a:pPr>
            <a:r>
              <a:rPr lang="en-US" altLang="zh-CN" sz="1600" dirty="0">
                <a:latin typeface="Times New Roman" panose="02020603050405020304" pitchFamily="18" charset="0"/>
                <a:ea typeface="SimSun" pitchFamily="2" charset="-122"/>
                <a:cs typeface="Times New Roman" panose="02020603050405020304" pitchFamily="18" charset="0"/>
              </a:rPr>
              <a:t>Advantages</a:t>
            </a:r>
          </a:p>
          <a:p>
            <a:pPr marL="342900" indent="-342900">
              <a:buFont typeface="Arial" pitchFamily="34" charset="0"/>
              <a:buChar char="•"/>
            </a:pPr>
            <a:r>
              <a:rPr lang="en-US" altLang="zh-CN" sz="1600" dirty="0">
                <a:latin typeface="Times New Roman" panose="02020603050405020304" pitchFamily="18" charset="0"/>
                <a:ea typeface="SimSun" pitchFamily="2" charset="-122"/>
                <a:cs typeface="Times New Roman" panose="02020603050405020304" pitchFamily="18" charset="0"/>
              </a:rPr>
              <a:t>Applications</a:t>
            </a:r>
          </a:p>
          <a:p>
            <a:r>
              <a:rPr lang="en-US" sz="1600" dirty="0">
                <a:latin typeface="Times New Roman" panose="02020603050405020304" pitchFamily="18" charset="0"/>
                <a:cs typeface="Times New Roman" panose="02020603050405020304" pitchFamily="18" charset="0"/>
              </a:rPr>
              <a:t>DFD Diagram</a:t>
            </a:r>
          </a:p>
          <a:p>
            <a:r>
              <a:rPr lang="en-US" sz="1600" dirty="0">
                <a:latin typeface="Times New Roman" panose="02020603050405020304" pitchFamily="18" charset="0"/>
                <a:cs typeface="Times New Roman" panose="02020603050405020304" pitchFamily="18" charset="0"/>
              </a:rPr>
              <a:t>UML Diagram</a:t>
            </a:r>
            <a:endParaRPr lang="en-US" altLang="zh-CN" sz="1600" dirty="0">
              <a:latin typeface="Times New Roman" panose="02020603050405020304" pitchFamily="18" charset="0"/>
              <a:ea typeface="SimSun" pitchFamily="2" charset="-122"/>
              <a:cs typeface="Times New Roman" panose="02020603050405020304" pitchFamily="18" charset="0"/>
            </a:endParaRPr>
          </a:p>
          <a:p>
            <a:pPr marL="342900" indent="-342900">
              <a:buFont typeface="Arial" pitchFamily="34" charset="0"/>
              <a:buChar char="•"/>
            </a:pPr>
            <a:r>
              <a:rPr lang="en-US" sz="1600" dirty="0">
                <a:latin typeface="Times New Roman" panose="02020603050405020304" pitchFamily="18" charset="0"/>
                <a:cs typeface="Times New Roman" panose="02020603050405020304" pitchFamily="18" charset="0"/>
              </a:rPr>
              <a:t>Sample Results</a:t>
            </a:r>
          </a:p>
          <a:p>
            <a:pPr marL="342900" indent="-342900">
              <a:buFont typeface="Arial" pitchFamily="34" charset="0"/>
              <a:buChar char="•"/>
            </a:pPr>
            <a:r>
              <a:rPr lang="en-US" sz="1600" dirty="0">
                <a:latin typeface="Times New Roman" panose="02020603050405020304" pitchFamily="18" charset="0"/>
                <a:cs typeface="Times New Roman" panose="02020603050405020304" pitchFamily="18" charset="0"/>
              </a:rPr>
              <a:t>Conclusion</a:t>
            </a:r>
          </a:p>
          <a:p>
            <a:pPr marL="342900" indent="-342900">
              <a:buFont typeface="Arial" pitchFamily="34" charset="0"/>
              <a:buChar char="•"/>
            </a:pPr>
            <a:r>
              <a:rPr lang="en-US" sz="1600" dirty="0">
                <a:latin typeface="Times New Roman" panose="02020603050405020304" pitchFamily="18" charset="0"/>
                <a:cs typeface="Times New Roman" panose="02020603050405020304" pitchFamily="18" charset="0"/>
              </a:rPr>
              <a:t>Future Scope</a:t>
            </a:r>
          </a:p>
          <a:p>
            <a:pPr marL="342900" indent="-342900">
              <a:buFont typeface="Arial" pitchFamily="34" charset="0"/>
              <a:buChar char="•"/>
            </a:pPr>
            <a:r>
              <a:rPr lang="en-US" sz="1600" dirty="0">
                <a:latin typeface="Times New Roman" panose="02020603050405020304" pitchFamily="18" charset="0"/>
                <a:cs typeface="Times New Roman" panose="02020603050405020304" pitchFamily="18" charset="0"/>
              </a:rPr>
              <a:t>References</a:t>
            </a:r>
          </a:p>
          <a:p>
            <a:pPr marL="342900" indent="-342900">
              <a:buFont typeface="Arial"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itchFamily="34" charset="0"/>
              <a:buChar char="•"/>
            </a:pPr>
            <a:endParaRPr lang="en-US" sz="2000" dirty="0"/>
          </a:p>
          <a:p>
            <a:pPr marL="0" indent="0">
              <a:buNone/>
            </a:pPr>
            <a:endParaRPr lang="en-US" sz="2000" dirty="0"/>
          </a:p>
          <a:p>
            <a:pPr marL="342900" indent="-342900">
              <a:buFont typeface="Arial" pitchFamily="34" charset="0"/>
              <a:buChar char="•"/>
            </a:pPr>
            <a:endParaRPr lang="en-US" sz="2000" dirty="0"/>
          </a:p>
        </p:txBody>
      </p:sp>
      <p:pic>
        <p:nvPicPr>
          <p:cNvPr id="9" name="Picture 7" descr="Description: Description: Description: Description: Description: I:\ALL PICTURE\JSPM LOGO.JPG"/>
          <p:cNvPicPr>
            <a:picLocks noChangeAspect="1" noChangeArrowheads="1"/>
          </p:cNvPicPr>
          <p:nvPr/>
        </p:nvPicPr>
        <p:blipFill>
          <a:blip r:embed="rId2" cstate="print"/>
          <a:srcRect/>
          <a:stretch>
            <a:fillRect/>
          </a:stretch>
        </p:blipFill>
        <p:spPr bwMode="auto">
          <a:xfrm>
            <a:off x="132893" y="266405"/>
            <a:ext cx="1467307" cy="1278506"/>
          </a:xfrm>
          <a:prstGeom prst="rect">
            <a:avLst/>
          </a:prstGeom>
          <a:noFill/>
          <a:ln w="9525">
            <a:noFill/>
            <a:miter lim="800000"/>
            <a:headEnd/>
            <a:tailEnd/>
          </a:ln>
        </p:spPr>
      </p:pic>
      <p:pic>
        <p:nvPicPr>
          <p:cNvPr id="10" name="Picture 3" descr="C:\Users\HODCOMP\Desktop\CE3AF389D59DDB81.jpg"/>
          <p:cNvPicPr>
            <a:picLocks noChangeAspect="1" noChangeArrowheads="1"/>
          </p:cNvPicPr>
          <p:nvPr/>
        </p:nvPicPr>
        <p:blipFill>
          <a:blip r:embed="rId3" cstate="print"/>
          <a:srcRect/>
          <a:stretch>
            <a:fillRect/>
          </a:stretch>
        </p:blipFill>
        <p:spPr bwMode="auto">
          <a:xfrm>
            <a:off x="7543800" y="152400"/>
            <a:ext cx="1330525" cy="1295401"/>
          </a:xfrm>
          <a:prstGeom prst="rect">
            <a:avLst/>
          </a:prstGeom>
          <a:noFill/>
          <a:ln w="9525">
            <a:noFill/>
            <a:miter lim="800000"/>
            <a:headEnd/>
            <a:tailEnd/>
          </a:ln>
        </p:spPr>
      </p:pic>
      <p:sp>
        <p:nvSpPr>
          <p:cNvPr id="5" name="Footer Placeholder 4">
            <a:extLst>
              <a:ext uri="{FF2B5EF4-FFF2-40B4-BE49-F238E27FC236}">
                <a16:creationId xmlns:a16="http://schemas.microsoft.com/office/drawing/2014/main" id="{4DE4FA31-985D-1309-3ACD-49162D866EF5}"/>
              </a:ext>
            </a:extLst>
          </p:cNvPr>
          <p:cNvSpPr>
            <a:spLocks noGrp="1"/>
          </p:cNvSpPr>
          <p:nvPr>
            <p:ph type="ftr" sz="quarter" idx="11"/>
          </p:nvPr>
        </p:nvSpPr>
        <p:spPr/>
        <p:txBody>
          <a:bodyPr/>
          <a:lstStyle/>
          <a:p>
            <a:r>
              <a:rPr lang="en-US"/>
              <a:t>JSPM’s BSIOTR, Wagholi, Pune</a:t>
            </a:r>
            <a:endParaRPr lang="en-US" dirty="0"/>
          </a:p>
        </p:txBody>
      </p:sp>
      <p:sp>
        <p:nvSpPr>
          <p:cNvPr id="6" name="Slide Number Placeholder 5">
            <a:extLst>
              <a:ext uri="{FF2B5EF4-FFF2-40B4-BE49-F238E27FC236}">
                <a16:creationId xmlns:a16="http://schemas.microsoft.com/office/drawing/2014/main" id="{53D062AA-694C-3B28-CA13-D8F784BFD11B}"/>
              </a:ext>
            </a:extLst>
          </p:cNvPr>
          <p:cNvSpPr>
            <a:spLocks noGrp="1"/>
          </p:cNvSpPr>
          <p:nvPr>
            <p:ph type="sldNum" sz="quarter" idx="12"/>
          </p:nvPr>
        </p:nvSpPr>
        <p:spPr/>
        <p:txBody>
          <a:bodyPr/>
          <a:lstStyle/>
          <a:p>
            <a:fld id="{7161C815-E3C8-4F84-A404-75109D49E891}"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itchFamily="18" charset="0"/>
                <a:cs typeface="Times New Roman" pitchFamily="18" charset="0"/>
              </a:rPr>
              <a:t>Introduction</a:t>
            </a:r>
          </a:p>
        </p:txBody>
      </p:sp>
      <p:pic>
        <p:nvPicPr>
          <p:cNvPr id="9" name="Picture 7" descr="Description: Description: Description: Description: Description: I:\ALL PICTURE\JSPM LOGO.JPG"/>
          <p:cNvPicPr>
            <a:picLocks noChangeAspect="1" noChangeArrowheads="1"/>
          </p:cNvPicPr>
          <p:nvPr/>
        </p:nvPicPr>
        <p:blipFill>
          <a:blip r:embed="rId2" cstate="print"/>
          <a:srcRect/>
          <a:stretch>
            <a:fillRect/>
          </a:stretch>
        </p:blipFill>
        <p:spPr bwMode="auto">
          <a:xfrm>
            <a:off x="132893" y="266405"/>
            <a:ext cx="1467307" cy="1278506"/>
          </a:xfrm>
          <a:prstGeom prst="rect">
            <a:avLst/>
          </a:prstGeom>
          <a:noFill/>
          <a:ln w="9525">
            <a:noFill/>
            <a:miter lim="800000"/>
            <a:headEnd/>
            <a:tailEnd/>
          </a:ln>
        </p:spPr>
      </p:pic>
      <p:pic>
        <p:nvPicPr>
          <p:cNvPr id="10" name="Picture 3" descr="C:\Users\HODCOMP\Desktop\CE3AF389D59DDB81.jpg"/>
          <p:cNvPicPr>
            <a:picLocks noChangeAspect="1" noChangeArrowheads="1"/>
          </p:cNvPicPr>
          <p:nvPr/>
        </p:nvPicPr>
        <p:blipFill>
          <a:blip r:embed="rId3" cstate="print"/>
          <a:srcRect/>
          <a:stretch>
            <a:fillRect/>
          </a:stretch>
        </p:blipFill>
        <p:spPr bwMode="auto">
          <a:xfrm>
            <a:off x="7543800" y="152400"/>
            <a:ext cx="1330525" cy="1295401"/>
          </a:xfrm>
          <a:prstGeom prst="rect">
            <a:avLst/>
          </a:prstGeom>
          <a:noFill/>
          <a:ln w="9525">
            <a:noFill/>
            <a:miter lim="800000"/>
            <a:headEnd/>
            <a:tailEnd/>
          </a:ln>
        </p:spPr>
      </p:pic>
      <p:sp>
        <p:nvSpPr>
          <p:cNvPr id="4" name="Content Placeholder 3">
            <a:extLst>
              <a:ext uri="{FF2B5EF4-FFF2-40B4-BE49-F238E27FC236}">
                <a16:creationId xmlns:a16="http://schemas.microsoft.com/office/drawing/2014/main" id="{8480974C-AACE-5619-AEE7-029FCC2918AD}"/>
              </a:ext>
            </a:extLst>
          </p:cNvPr>
          <p:cNvSpPr>
            <a:spLocks noGrp="1"/>
          </p:cNvSpPr>
          <p:nvPr>
            <p:ph idx="1"/>
          </p:nvPr>
        </p:nvSpPr>
        <p:spPr>
          <a:noFill/>
          <a:ln>
            <a:noFill/>
          </a:ln>
        </p:spPr>
        <p:style>
          <a:lnRef idx="2">
            <a:schemeClr val="accent3"/>
          </a:lnRef>
          <a:fillRef idx="1">
            <a:schemeClr val="lt1"/>
          </a:fillRef>
          <a:effectRef idx="0">
            <a:schemeClr val="accent3"/>
          </a:effectRef>
          <a:fontRef idx="minor">
            <a:schemeClr val="dk1"/>
          </a:fontRef>
        </p:style>
        <p:txBody>
          <a:bodyPr>
            <a:normAutofit/>
          </a:bodyPr>
          <a:lstStyle/>
          <a:p>
            <a:pPr marL="0" indent="0" algn="just">
              <a:buNone/>
            </a:pPr>
            <a:r>
              <a:rPr lang="en-IN" sz="2200" dirty="0">
                <a:effectLst/>
                <a:latin typeface="Times New Roman" panose="02020603050405020304" pitchFamily="18" charset="0"/>
                <a:ea typeface="Calibri" panose="020F0502020204030204" pitchFamily="34" charset="0"/>
              </a:rPr>
              <a:t> 	Blood is a vital component of the human body and plays a critical role in maintaining the normal functioning of organs and tissues. However, due to various medical conditions such as accidents, surgeries, and diseases, blood transfusion is constantly demanded in hospitals and healthcare centres. Blood banks serve as a critical link between donors and recipients by collecting, testing, processing, and distributing blood and its components. Donor management systems have been developed to automate and streamline the process of blood donation, reduce the risk of errors, and improve the efficiency of blood bank operations. </a:t>
            </a:r>
            <a:endParaRPr lang="en-US" sz="2200"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9C7638DA-0E64-409D-5DD4-CD52DCED5F25}"/>
              </a:ext>
            </a:extLst>
          </p:cNvPr>
          <p:cNvSpPr>
            <a:spLocks noGrp="1"/>
          </p:cNvSpPr>
          <p:nvPr>
            <p:ph type="ftr" sz="quarter" idx="11"/>
          </p:nvPr>
        </p:nvSpPr>
        <p:spPr/>
        <p:txBody>
          <a:bodyPr/>
          <a:lstStyle/>
          <a:p>
            <a:r>
              <a:rPr lang="en-US"/>
              <a:t>JSPM’s BSIOTR, Wagholi, Pune</a:t>
            </a:r>
            <a:endParaRPr lang="en-US" dirty="0"/>
          </a:p>
        </p:txBody>
      </p:sp>
      <p:sp>
        <p:nvSpPr>
          <p:cNvPr id="7" name="Slide Number Placeholder 6">
            <a:extLst>
              <a:ext uri="{FF2B5EF4-FFF2-40B4-BE49-F238E27FC236}">
                <a16:creationId xmlns:a16="http://schemas.microsoft.com/office/drawing/2014/main" id="{55D5CE91-21E3-9874-35BC-77444D000068}"/>
              </a:ext>
            </a:extLst>
          </p:cNvPr>
          <p:cNvSpPr>
            <a:spLocks noGrp="1"/>
          </p:cNvSpPr>
          <p:nvPr>
            <p:ph type="sldNum" sz="quarter" idx="12"/>
          </p:nvPr>
        </p:nvSpPr>
        <p:spPr/>
        <p:txBody>
          <a:bodyPr/>
          <a:lstStyle/>
          <a:p>
            <a:fld id="{7161C815-E3C8-4F84-A404-75109D49E891}" type="slidenum">
              <a:rPr lang="en-US" smtClean="0"/>
              <a:pPr/>
              <a:t>3</a:t>
            </a:fld>
            <a:endParaRPr lang="en-US" dirty="0"/>
          </a:p>
        </p:txBody>
      </p:sp>
    </p:spTree>
    <p:extLst>
      <p:ext uri="{BB962C8B-B14F-4D97-AF65-F5344CB8AC3E}">
        <p14:creationId xmlns:p14="http://schemas.microsoft.com/office/powerpoint/2010/main" val="32889243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itchFamily="18" charset="0"/>
                <a:cs typeface="Times New Roman" pitchFamily="18" charset="0"/>
              </a:rPr>
              <a:t>Motivation</a:t>
            </a:r>
          </a:p>
        </p:txBody>
      </p:sp>
      <p:sp>
        <p:nvSpPr>
          <p:cNvPr id="3" name="Content Placeholder 2"/>
          <p:cNvSpPr>
            <a:spLocks noGrp="1"/>
          </p:cNvSpPr>
          <p:nvPr>
            <p:ph idx="1"/>
          </p:nvPr>
        </p:nvSpPr>
        <p:spPr>
          <a:xfrm>
            <a:off x="457200" y="1600200"/>
            <a:ext cx="8229600" cy="4953000"/>
          </a:xfrm>
        </p:spPr>
        <p:txBody>
          <a:bodyPr>
            <a:normAutofit/>
          </a:bodyPr>
          <a:lstStyle/>
          <a:p>
            <a:pPr>
              <a:buFont typeface="Wingdings" panose="05000000000000000000" pitchFamily="2" charset="2"/>
              <a:buChar char="Ø"/>
            </a:pPr>
            <a:r>
              <a:rPr lang="en-US" sz="2200" b="0" i="0" dirty="0">
                <a:effectLst/>
                <a:latin typeface="Times New Roman" panose="02020603050405020304" pitchFamily="18" charset="0"/>
                <a:cs typeface="Times New Roman" panose="02020603050405020304" pitchFamily="18" charset="0"/>
              </a:rPr>
              <a:t>The main purpose of this system is </a:t>
            </a:r>
            <a:r>
              <a:rPr lang="en-US" sz="2200" i="0" dirty="0">
                <a:effectLst/>
                <a:latin typeface="Times New Roman" panose="02020603050405020304" pitchFamily="18" charset="0"/>
                <a:cs typeface="Times New Roman" panose="02020603050405020304" pitchFamily="18" charset="0"/>
              </a:rPr>
              <a:t>to keep an organize records management of blood.</a:t>
            </a:r>
          </a:p>
          <a:p>
            <a:pPr>
              <a:buFont typeface="Wingdings" panose="05000000000000000000" pitchFamily="2" charset="2"/>
              <a:buChar char="Ø"/>
            </a:pPr>
            <a:r>
              <a:rPr lang="en-US" sz="2200" b="0" i="0" dirty="0">
                <a:effectLst/>
                <a:latin typeface="Times New Roman" panose="02020603050405020304" pitchFamily="18" charset="0"/>
                <a:cs typeface="Times New Roman" panose="02020603050405020304" pitchFamily="18" charset="0"/>
              </a:rPr>
              <a:t> Information such as Donor Details , Blood Collection , Screening , Component preparation , Blood storage , Blood request , Compatibility, Blood issue , Monthly statistics records are stored using database .</a:t>
            </a:r>
            <a:endParaRPr lang="en-US" sz="2200" dirty="0">
              <a:latin typeface="Times New Roman" panose="02020603050405020304" pitchFamily="18" charset="0"/>
              <a:cs typeface="Times New Roman" pitchFamily="18" charset="0"/>
            </a:endParaRPr>
          </a:p>
        </p:txBody>
      </p:sp>
      <p:sp>
        <p:nvSpPr>
          <p:cNvPr id="4" name="Title 1"/>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5" name="Content Placeholder 10"/>
          <p:cNvSpPr txBox="1">
            <a:spLocks/>
          </p:cNvSpPr>
          <p:nvPr/>
        </p:nvSpPr>
        <p:spPr>
          <a:xfrm>
            <a:off x="457200" y="1600200"/>
            <a:ext cx="8382000" cy="5029200"/>
          </a:xfrm>
          <a:prstGeom prst="rect">
            <a:avLst/>
          </a:prstGeom>
        </p:spPr>
        <p:txBody>
          <a:bodyPr vert="horz" lIns="91440" tIns="45720" rIns="91440" bIns="45720" rtlCol="0">
            <a:noAutofit/>
          </a:bodyPr>
          <a:lstStyle/>
          <a:p>
            <a:pPr marR="0" lvl="0" algn="l" defTabSz="914400" rtl="0" eaLnBrk="1" fontAlgn="auto" latinLnBrk="0" hangingPunct="1">
              <a:lnSpc>
                <a:spcPct val="150000"/>
              </a:lnSpc>
              <a:spcBef>
                <a:spcPts val="400"/>
              </a:spcBef>
              <a:spcAft>
                <a:spcPts val="0"/>
              </a:spcAft>
              <a:buClrTx/>
              <a:buSzTx/>
              <a:tabLst/>
              <a:defRPr/>
            </a:pPr>
            <a:endParaRPr kumimoji="0" lang="en-IN" sz="2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pic>
        <p:nvPicPr>
          <p:cNvPr id="6" name="Picture 7" descr="Description: Description: Description: Description: Description: I:\ALL PICTURE\JSPM LOGO.JPG"/>
          <p:cNvPicPr>
            <a:picLocks noChangeAspect="1" noChangeArrowheads="1"/>
          </p:cNvPicPr>
          <p:nvPr/>
        </p:nvPicPr>
        <p:blipFill>
          <a:blip r:embed="rId2" cstate="print"/>
          <a:srcRect/>
          <a:stretch>
            <a:fillRect/>
          </a:stretch>
        </p:blipFill>
        <p:spPr bwMode="auto">
          <a:xfrm>
            <a:off x="132893" y="266405"/>
            <a:ext cx="1467307" cy="1278506"/>
          </a:xfrm>
          <a:prstGeom prst="rect">
            <a:avLst/>
          </a:prstGeom>
          <a:noFill/>
          <a:ln w="9525">
            <a:noFill/>
            <a:miter lim="800000"/>
            <a:headEnd/>
            <a:tailEnd/>
          </a:ln>
        </p:spPr>
      </p:pic>
      <p:pic>
        <p:nvPicPr>
          <p:cNvPr id="7" name="Picture 3" descr="C:\Users\HODCOMP\Desktop\CE3AF389D59DDB81.jpg"/>
          <p:cNvPicPr>
            <a:picLocks noChangeAspect="1" noChangeArrowheads="1"/>
          </p:cNvPicPr>
          <p:nvPr/>
        </p:nvPicPr>
        <p:blipFill>
          <a:blip r:embed="rId3" cstate="print"/>
          <a:srcRect/>
          <a:stretch>
            <a:fillRect/>
          </a:stretch>
        </p:blipFill>
        <p:spPr bwMode="auto">
          <a:xfrm>
            <a:off x="7543800" y="152400"/>
            <a:ext cx="1330525" cy="1295401"/>
          </a:xfrm>
          <a:prstGeom prst="rect">
            <a:avLst/>
          </a:prstGeom>
          <a:noFill/>
          <a:ln w="9525">
            <a:noFill/>
            <a:miter lim="800000"/>
            <a:headEnd/>
            <a:tailEnd/>
          </a:ln>
        </p:spPr>
      </p:pic>
      <p:sp>
        <p:nvSpPr>
          <p:cNvPr id="10" name="Footer Placeholder 9">
            <a:extLst>
              <a:ext uri="{FF2B5EF4-FFF2-40B4-BE49-F238E27FC236}">
                <a16:creationId xmlns:a16="http://schemas.microsoft.com/office/drawing/2014/main" id="{A7DCFD5E-5763-D7CD-E6A9-D26C34AEDA2F}"/>
              </a:ext>
            </a:extLst>
          </p:cNvPr>
          <p:cNvSpPr>
            <a:spLocks noGrp="1"/>
          </p:cNvSpPr>
          <p:nvPr>
            <p:ph type="ftr" sz="quarter" idx="11"/>
          </p:nvPr>
        </p:nvSpPr>
        <p:spPr/>
        <p:txBody>
          <a:bodyPr/>
          <a:lstStyle/>
          <a:p>
            <a:r>
              <a:rPr lang="en-US"/>
              <a:t>JSPM’s BSIOTR, Wagholi, Pune</a:t>
            </a:r>
            <a:endParaRPr lang="en-US" dirty="0"/>
          </a:p>
        </p:txBody>
      </p:sp>
      <p:sp>
        <p:nvSpPr>
          <p:cNvPr id="11" name="Slide Number Placeholder 10">
            <a:extLst>
              <a:ext uri="{FF2B5EF4-FFF2-40B4-BE49-F238E27FC236}">
                <a16:creationId xmlns:a16="http://schemas.microsoft.com/office/drawing/2014/main" id="{0AC66CA8-875B-6040-9A21-04A90BC95601}"/>
              </a:ext>
            </a:extLst>
          </p:cNvPr>
          <p:cNvSpPr>
            <a:spLocks noGrp="1"/>
          </p:cNvSpPr>
          <p:nvPr>
            <p:ph type="sldNum" sz="quarter" idx="12"/>
          </p:nvPr>
        </p:nvSpPr>
        <p:spPr/>
        <p:txBody>
          <a:bodyPr/>
          <a:lstStyle/>
          <a:p>
            <a:fld id="{7161C815-E3C8-4F84-A404-75109D49E891}" type="slidenum">
              <a:rPr lang="en-US" smtClean="0"/>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4638"/>
            <a:ext cx="5943600" cy="1143000"/>
          </a:xfrm>
        </p:spPr>
        <p:txBody>
          <a:bodyPr>
            <a:normAutofit/>
          </a:bodyPr>
          <a:lstStyle/>
          <a:p>
            <a:r>
              <a:rPr lang="en-US" sz="3600" b="1" dirty="0">
                <a:latin typeface="Times New Roman" pitchFamily="18" charset="0"/>
                <a:cs typeface="Times New Roman" pitchFamily="18" charset="0"/>
              </a:rPr>
              <a:t>Problem Statement</a:t>
            </a:r>
          </a:p>
        </p:txBody>
      </p:sp>
      <p:sp>
        <p:nvSpPr>
          <p:cNvPr id="3" name="Content Placeholder 2"/>
          <p:cNvSpPr>
            <a:spLocks noGrp="1"/>
          </p:cNvSpPr>
          <p:nvPr>
            <p:ph idx="1"/>
          </p:nvPr>
        </p:nvSpPr>
        <p:spPr/>
        <p:txBody>
          <a:bodyPr>
            <a:noAutofit/>
          </a:bodyPr>
          <a:lstStyle/>
          <a:p>
            <a:pPr>
              <a:buFont typeface="Wingdings" panose="05000000000000000000" pitchFamily="2" charset="2"/>
              <a:buChar char="Ø"/>
            </a:pPr>
            <a:r>
              <a:rPr lang="en-US" sz="2200" dirty="0" err="1">
                <a:latin typeface="Times New Roman" panose="02020603050405020304" pitchFamily="18" charset="0"/>
                <a:cs typeface="Times New Roman" panose="02020603050405020304" pitchFamily="18" charset="0"/>
              </a:rPr>
              <a:t>Scarity</a:t>
            </a:r>
            <a:r>
              <a:rPr lang="en-US" sz="2200" dirty="0">
                <a:latin typeface="Times New Roman" panose="02020603050405020304" pitchFamily="18" charset="0"/>
                <a:cs typeface="Times New Roman" panose="02020603050405020304" pitchFamily="18" charset="0"/>
              </a:rPr>
              <a:t> of rare blood group.</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Unavailability of blood during an emergency.</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Less awareness among people about blood donation and blood transfusion.</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Deaths due to lack of blood during the operation.</a:t>
            </a:r>
          </a:p>
          <a:p>
            <a:pPr marL="0" indent="0">
              <a:buNone/>
            </a:pPr>
            <a:endParaRPr lang="en-US" sz="2200" dirty="0">
              <a:latin typeface="Times New Roman" panose="02020603050405020304" pitchFamily="18" charset="0"/>
              <a:cs typeface="Times New Roman" panose="02020603050405020304" pitchFamily="18" charset="0"/>
            </a:endParaRPr>
          </a:p>
        </p:txBody>
      </p:sp>
      <p:sp>
        <p:nvSpPr>
          <p:cNvPr id="4" name="Title 1"/>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5" name="Content Placeholder 10"/>
          <p:cNvSpPr txBox="1">
            <a:spLocks/>
          </p:cNvSpPr>
          <p:nvPr/>
        </p:nvSpPr>
        <p:spPr>
          <a:xfrm>
            <a:off x="457200" y="1600200"/>
            <a:ext cx="8382000" cy="5029200"/>
          </a:xfrm>
          <a:prstGeom prst="rect">
            <a:avLst/>
          </a:prstGeom>
        </p:spPr>
        <p:txBody>
          <a:bodyPr vert="horz" lIns="91440" tIns="45720" rIns="91440" bIns="45720" rtlCol="0">
            <a:noAutofit/>
          </a:bodyPr>
          <a:lstStyle/>
          <a:p>
            <a:pPr marL="365125" marR="0" lvl="0" indent="-401638" algn="l" defTabSz="914400" rtl="0" eaLnBrk="1" fontAlgn="auto" latinLnBrk="0" hangingPunct="1">
              <a:lnSpc>
                <a:spcPct val="150000"/>
              </a:lnSpc>
              <a:spcBef>
                <a:spcPts val="400"/>
              </a:spcBef>
              <a:spcAft>
                <a:spcPts val="0"/>
              </a:spcAft>
              <a:buClrTx/>
              <a:buSzTx/>
              <a:buFont typeface="Wingdings" pitchFamily="2" charset="2"/>
              <a:buChar char="§"/>
              <a:tabLst/>
              <a:defRPr/>
            </a:pPr>
            <a:endParaRPr kumimoji="0" lang="en-IN" sz="2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pic>
        <p:nvPicPr>
          <p:cNvPr id="6" name="Picture 7" descr="Description: Description: Description: Description: Description: I:\ALL PICTURE\JSPM LOGO.JPG"/>
          <p:cNvPicPr>
            <a:picLocks noChangeAspect="1" noChangeArrowheads="1"/>
          </p:cNvPicPr>
          <p:nvPr/>
        </p:nvPicPr>
        <p:blipFill>
          <a:blip r:embed="rId2" cstate="print"/>
          <a:srcRect/>
          <a:stretch>
            <a:fillRect/>
          </a:stretch>
        </p:blipFill>
        <p:spPr bwMode="auto">
          <a:xfrm>
            <a:off x="132893" y="266405"/>
            <a:ext cx="1467307" cy="1278506"/>
          </a:xfrm>
          <a:prstGeom prst="rect">
            <a:avLst/>
          </a:prstGeom>
          <a:noFill/>
          <a:ln w="9525">
            <a:noFill/>
            <a:miter lim="800000"/>
            <a:headEnd/>
            <a:tailEnd/>
          </a:ln>
        </p:spPr>
      </p:pic>
      <p:pic>
        <p:nvPicPr>
          <p:cNvPr id="7" name="Picture 3" descr="C:\Users\HODCOMP\Desktop\CE3AF389D59DDB81.jpg"/>
          <p:cNvPicPr>
            <a:picLocks noChangeAspect="1" noChangeArrowheads="1"/>
          </p:cNvPicPr>
          <p:nvPr/>
        </p:nvPicPr>
        <p:blipFill>
          <a:blip r:embed="rId3" cstate="print"/>
          <a:srcRect/>
          <a:stretch>
            <a:fillRect/>
          </a:stretch>
        </p:blipFill>
        <p:spPr bwMode="auto">
          <a:xfrm>
            <a:off x="7543800" y="152400"/>
            <a:ext cx="1330525" cy="1295401"/>
          </a:xfrm>
          <a:prstGeom prst="rect">
            <a:avLst/>
          </a:prstGeom>
          <a:noFill/>
          <a:ln w="9525">
            <a:noFill/>
            <a:miter lim="800000"/>
            <a:headEnd/>
            <a:tailEnd/>
          </a:ln>
        </p:spPr>
      </p:pic>
      <p:sp>
        <p:nvSpPr>
          <p:cNvPr id="10" name="Footer Placeholder 9">
            <a:extLst>
              <a:ext uri="{FF2B5EF4-FFF2-40B4-BE49-F238E27FC236}">
                <a16:creationId xmlns:a16="http://schemas.microsoft.com/office/drawing/2014/main" id="{176461B3-BC3B-DC81-77FF-C1B12E795973}"/>
              </a:ext>
            </a:extLst>
          </p:cNvPr>
          <p:cNvSpPr>
            <a:spLocks noGrp="1"/>
          </p:cNvSpPr>
          <p:nvPr>
            <p:ph type="ftr" sz="quarter" idx="11"/>
          </p:nvPr>
        </p:nvSpPr>
        <p:spPr/>
        <p:txBody>
          <a:bodyPr/>
          <a:lstStyle/>
          <a:p>
            <a:r>
              <a:rPr lang="en-US"/>
              <a:t>JSPM’s BSIOTR, Wagholi, Pune</a:t>
            </a:r>
            <a:endParaRPr lang="en-US" dirty="0"/>
          </a:p>
        </p:txBody>
      </p:sp>
      <p:sp>
        <p:nvSpPr>
          <p:cNvPr id="11" name="Slide Number Placeholder 10">
            <a:extLst>
              <a:ext uri="{FF2B5EF4-FFF2-40B4-BE49-F238E27FC236}">
                <a16:creationId xmlns:a16="http://schemas.microsoft.com/office/drawing/2014/main" id="{1F0B978B-6A8E-C12D-4F43-CF48B1D75052}"/>
              </a:ext>
            </a:extLst>
          </p:cNvPr>
          <p:cNvSpPr>
            <a:spLocks noGrp="1"/>
          </p:cNvSpPr>
          <p:nvPr>
            <p:ph type="sldNum" sz="quarter" idx="12"/>
          </p:nvPr>
        </p:nvSpPr>
        <p:spPr/>
        <p:txBody>
          <a:bodyPr/>
          <a:lstStyle/>
          <a:p>
            <a:fld id="{7161C815-E3C8-4F84-A404-75109D49E891}" type="slidenum">
              <a:rPr lang="en-US" smtClean="0"/>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sz="3600" b="1" dirty="0">
                <a:effectLst/>
                <a:latin typeface="Times New Roman" pitchFamily="18" charset="0"/>
                <a:cs typeface="Times New Roman" pitchFamily="18" charset="0"/>
              </a:rPr>
              <a:t>Literature Survey </a:t>
            </a:r>
            <a:endParaRPr lang="en-US" sz="3600" dirty="0"/>
          </a:p>
        </p:txBody>
      </p:sp>
      <p:sp>
        <p:nvSpPr>
          <p:cNvPr id="4" name="Title 1"/>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pic>
        <p:nvPicPr>
          <p:cNvPr id="5" name="Picture 7" descr="Description: Description: Description: Description: Description: I:\ALL PICTURE\JSPM LOGO.JPG"/>
          <p:cNvPicPr>
            <a:picLocks noChangeAspect="1" noChangeArrowheads="1"/>
          </p:cNvPicPr>
          <p:nvPr/>
        </p:nvPicPr>
        <p:blipFill>
          <a:blip r:embed="rId2" cstate="print"/>
          <a:srcRect/>
          <a:stretch>
            <a:fillRect/>
          </a:stretch>
        </p:blipFill>
        <p:spPr bwMode="auto">
          <a:xfrm>
            <a:off x="132894" y="239510"/>
            <a:ext cx="1180950" cy="1028995"/>
          </a:xfrm>
          <a:prstGeom prst="rect">
            <a:avLst/>
          </a:prstGeom>
          <a:noFill/>
          <a:ln w="9525">
            <a:noFill/>
            <a:miter lim="800000"/>
            <a:headEnd/>
            <a:tailEnd/>
          </a:ln>
        </p:spPr>
      </p:pic>
      <p:pic>
        <p:nvPicPr>
          <p:cNvPr id="6" name="Picture 3" descr="C:\Users\HODCOMP\Desktop\CE3AF389D59DDB81.jpg"/>
          <p:cNvPicPr>
            <a:picLocks noChangeAspect="1" noChangeArrowheads="1"/>
          </p:cNvPicPr>
          <p:nvPr/>
        </p:nvPicPr>
        <p:blipFill>
          <a:blip r:embed="rId3" cstate="print"/>
          <a:srcRect/>
          <a:stretch>
            <a:fillRect/>
          </a:stretch>
        </p:blipFill>
        <p:spPr bwMode="auto">
          <a:xfrm>
            <a:off x="7696200" y="125507"/>
            <a:ext cx="1178125" cy="1147024"/>
          </a:xfrm>
          <a:prstGeom prst="rect">
            <a:avLst/>
          </a:prstGeom>
          <a:noFill/>
          <a:ln w="9525">
            <a:noFill/>
            <a:miter lim="800000"/>
            <a:headEnd/>
            <a:tailEnd/>
          </a:ln>
        </p:spPr>
      </p:pic>
      <p:graphicFrame>
        <p:nvGraphicFramePr>
          <p:cNvPr id="7" name="Table 6">
            <a:extLst>
              <a:ext uri="{FF2B5EF4-FFF2-40B4-BE49-F238E27FC236}">
                <a16:creationId xmlns:a16="http://schemas.microsoft.com/office/drawing/2014/main" id="{36A1934A-3EDE-6002-2533-42716B1734C4}"/>
              </a:ext>
            </a:extLst>
          </p:cNvPr>
          <p:cNvGraphicFramePr>
            <a:graphicFrameLocks noGrp="1"/>
          </p:cNvGraphicFramePr>
          <p:nvPr>
            <p:extLst>
              <p:ext uri="{D42A27DB-BD31-4B8C-83A1-F6EECF244321}">
                <p14:modId xmlns:p14="http://schemas.microsoft.com/office/powerpoint/2010/main" val="2205785627"/>
              </p:ext>
            </p:extLst>
          </p:nvPr>
        </p:nvGraphicFramePr>
        <p:xfrm>
          <a:off x="602625" y="1601041"/>
          <a:ext cx="7938749" cy="5017449"/>
        </p:xfrm>
        <a:graphic>
          <a:graphicData uri="http://schemas.openxmlformats.org/drawingml/2006/table">
            <a:tbl>
              <a:tblPr firstRow="1">
                <a:tableStyleId>{5C22544A-7EE6-4342-B048-85BDC9FD1C3A}</a:tableStyleId>
              </a:tblPr>
              <a:tblGrid>
                <a:gridCol w="567222">
                  <a:extLst>
                    <a:ext uri="{9D8B030D-6E8A-4147-A177-3AD203B41FA5}">
                      <a16:colId xmlns:a16="http://schemas.microsoft.com/office/drawing/2014/main" val="1412390698"/>
                    </a:ext>
                  </a:extLst>
                </a:gridCol>
                <a:gridCol w="2134693">
                  <a:extLst>
                    <a:ext uri="{9D8B030D-6E8A-4147-A177-3AD203B41FA5}">
                      <a16:colId xmlns:a16="http://schemas.microsoft.com/office/drawing/2014/main" val="3098129804"/>
                    </a:ext>
                  </a:extLst>
                </a:gridCol>
                <a:gridCol w="1192158">
                  <a:extLst>
                    <a:ext uri="{9D8B030D-6E8A-4147-A177-3AD203B41FA5}">
                      <a16:colId xmlns:a16="http://schemas.microsoft.com/office/drawing/2014/main" val="573090354"/>
                    </a:ext>
                  </a:extLst>
                </a:gridCol>
                <a:gridCol w="1791213">
                  <a:extLst>
                    <a:ext uri="{9D8B030D-6E8A-4147-A177-3AD203B41FA5}">
                      <a16:colId xmlns:a16="http://schemas.microsoft.com/office/drawing/2014/main" val="431768444"/>
                    </a:ext>
                  </a:extLst>
                </a:gridCol>
                <a:gridCol w="2253463">
                  <a:extLst>
                    <a:ext uri="{9D8B030D-6E8A-4147-A177-3AD203B41FA5}">
                      <a16:colId xmlns:a16="http://schemas.microsoft.com/office/drawing/2014/main" val="3092440083"/>
                    </a:ext>
                  </a:extLst>
                </a:gridCol>
              </a:tblGrid>
              <a:tr h="428769">
                <a:tc>
                  <a:txBody>
                    <a:bodyPr/>
                    <a:lstStyle/>
                    <a:p>
                      <a:pPr algn="ctr"/>
                      <a:r>
                        <a:rPr lang="en-IN" sz="1400" dirty="0">
                          <a:latin typeface="Times New Roman" panose="02020603050405020304" pitchFamily="18" charset="0"/>
                          <a:cs typeface="Times New Roman" panose="02020603050405020304" pitchFamily="18" charset="0"/>
                        </a:rPr>
                        <a:t>SR.</a:t>
                      </a:r>
                    </a:p>
                    <a:p>
                      <a:pPr algn="ctr"/>
                      <a:r>
                        <a:rPr lang="en-IN" sz="1400" dirty="0">
                          <a:latin typeface="Times New Roman" panose="02020603050405020304" pitchFamily="18" charset="0"/>
                          <a:cs typeface="Times New Roman" panose="02020603050405020304" pitchFamily="18" charset="0"/>
                        </a:rPr>
                        <a:t>N0.</a:t>
                      </a:r>
                    </a:p>
                  </a:txBody>
                  <a:tcPr anchor="ctr"/>
                </a:tc>
                <a:tc>
                  <a:txBody>
                    <a:bodyPr/>
                    <a:lstStyle/>
                    <a:p>
                      <a:pPr algn="ctr"/>
                      <a:r>
                        <a:rPr lang="en-IN" sz="1400" dirty="0">
                          <a:latin typeface="Times New Roman" panose="02020603050405020304" pitchFamily="18" charset="0"/>
                          <a:cs typeface="Times New Roman" panose="02020603050405020304" pitchFamily="18" charset="0"/>
                        </a:rPr>
                        <a:t>PROJECT TITLE</a:t>
                      </a:r>
                    </a:p>
                  </a:txBody>
                  <a:tcPr anchor="ctr"/>
                </a:tc>
                <a:tc>
                  <a:txBody>
                    <a:bodyPr/>
                    <a:lstStyle/>
                    <a:p>
                      <a:pPr algn="ctr"/>
                      <a:r>
                        <a:rPr lang="en-IN" sz="1400" dirty="0">
                          <a:latin typeface="Times New Roman" panose="02020603050405020304" pitchFamily="18" charset="0"/>
                          <a:cs typeface="Times New Roman" panose="02020603050405020304" pitchFamily="18" charset="0"/>
                        </a:rPr>
                        <a:t>YEAR</a:t>
                      </a:r>
                    </a:p>
                  </a:txBody>
                  <a:tcPr anchor="ctr"/>
                </a:tc>
                <a:tc>
                  <a:txBody>
                    <a:bodyPr/>
                    <a:lstStyle/>
                    <a:p>
                      <a:pPr algn="ctr"/>
                      <a:r>
                        <a:rPr lang="en-IN" sz="1400" dirty="0">
                          <a:latin typeface="Times New Roman" panose="02020603050405020304" pitchFamily="18" charset="0"/>
                          <a:cs typeface="Times New Roman" panose="02020603050405020304" pitchFamily="18" charset="0"/>
                        </a:rPr>
                        <a:t>AUTHOR</a:t>
                      </a:r>
                    </a:p>
                  </a:txBody>
                  <a:tcPr anchor="ctr"/>
                </a:tc>
                <a:tc>
                  <a:txBody>
                    <a:bodyPr/>
                    <a:lstStyle/>
                    <a:p>
                      <a:pPr algn="ctr"/>
                      <a:r>
                        <a:rPr lang="en-IN" sz="1400" dirty="0">
                          <a:latin typeface="Times New Roman" panose="02020603050405020304" pitchFamily="18" charset="0"/>
                          <a:cs typeface="Times New Roman" panose="02020603050405020304" pitchFamily="18" charset="0"/>
                        </a:rPr>
                        <a:t>CONCLUSION</a:t>
                      </a:r>
                    </a:p>
                  </a:txBody>
                  <a:tcPr anchor="ctr"/>
                </a:tc>
                <a:extLst>
                  <a:ext uri="{0D108BD9-81ED-4DB2-BD59-A6C34878D82A}">
                    <a16:rowId xmlns:a16="http://schemas.microsoft.com/office/drawing/2014/main" val="1562086272"/>
                  </a:ext>
                </a:extLst>
              </a:tr>
              <a:tr h="428769">
                <a:tc>
                  <a:txBody>
                    <a:bodyPr/>
                    <a:lstStyle/>
                    <a:p>
                      <a:pPr algn="ctr"/>
                      <a:r>
                        <a:rPr lang="en-IN" sz="1400" dirty="0"/>
                        <a:t>1</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E-Blood Bank Android.</a:t>
                      </a:r>
                    </a:p>
                    <a:p>
                      <a:pPr algn="ctr"/>
                      <a:r>
                        <a:rPr lang="en-US" sz="1400" dirty="0">
                          <a:latin typeface="Times New Roman" panose="02020603050405020304" pitchFamily="18" charset="0"/>
                          <a:cs typeface="Times New Roman" panose="02020603050405020304" pitchFamily="18" charset="0"/>
                        </a:rPr>
                        <a:t>Application for Donors and Life Savers.</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gn="ctr"/>
                      <a:r>
                        <a:rPr lang="en-IN" sz="1400" dirty="0">
                          <a:latin typeface="Times New Roman" panose="02020603050405020304" pitchFamily="18" charset="0"/>
                          <a:cs typeface="Times New Roman" panose="02020603050405020304" pitchFamily="18" charset="0"/>
                        </a:rPr>
                        <a:t>2021</a:t>
                      </a:r>
                    </a:p>
                  </a:txBody>
                  <a:tcPr anchor="ctr"/>
                </a:tc>
                <a:tc>
                  <a:txBody>
                    <a:bodyPr/>
                    <a:lstStyle/>
                    <a:p>
                      <a:pPr algn="ctr"/>
                      <a:r>
                        <a:rPr lang="en-IN" sz="1400" dirty="0">
                          <a:latin typeface="Times New Roman" panose="02020603050405020304" pitchFamily="18" charset="0"/>
                          <a:cs typeface="Times New Roman" panose="02020603050405020304" pitchFamily="18" charset="0"/>
                        </a:rPr>
                        <a:t>Karima Ghazali</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We should not be surprised now at the huge number of researchers who work in the field of technology and care about health, as it is the mainstay of human life.</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89243604"/>
                  </a:ext>
                </a:extLst>
              </a:tr>
              <a:tr h="428769">
                <a:tc>
                  <a:txBody>
                    <a:bodyPr/>
                    <a:lstStyle/>
                    <a:p>
                      <a:pPr algn="ctr"/>
                      <a:r>
                        <a:rPr lang="en-IN" sz="1400"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Blood collection supply chain management</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gn="ctr"/>
                      <a:r>
                        <a:rPr lang="en-IN" sz="1400" dirty="0">
                          <a:latin typeface="Times New Roman" panose="02020603050405020304" pitchFamily="18" charset="0"/>
                          <a:cs typeface="Times New Roman" panose="02020603050405020304" pitchFamily="18" charset="0"/>
                        </a:rPr>
                        <a:t>2020</a:t>
                      </a:r>
                    </a:p>
                  </a:txBody>
                  <a:tcPr anchor="ctr"/>
                </a:tc>
                <a:tc>
                  <a:txBody>
                    <a:bodyPr/>
                    <a:lstStyle/>
                    <a:p>
                      <a:pPr algn="ctr"/>
                      <a:r>
                        <a:rPr lang="en-IN" sz="1400" dirty="0" err="1">
                          <a:latin typeface="Times New Roman" panose="02020603050405020304" pitchFamily="18" charset="0"/>
                          <a:cs typeface="Times New Roman" panose="02020603050405020304" pitchFamily="18" charset="0"/>
                        </a:rPr>
                        <a:t>Bellabdaoui</a:t>
                      </a:r>
                      <a:r>
                        <a:rPr lang="en-IN" sz="1400" dirty="0">
                          <a:latin typeface="Times New Roman" panose="02020603050405020304" pitchFamily="18" charset="0"/>
                          <a:cs typeface="Times New Roman" panose="02020603050405020304" pitchFamily="18" charset="0"/>
                        </a:rPr>
                        <a:t> Adil</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We have tried to identify different perspectives in terms of which to classify the existing manuscripts</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48619501"/>
                  </a:ext>
                </a:extLst>
              </a:tr>
              <a:tr h="1386523">
                <a:tc>
                  <a:txBody>
                    <a:bodyPr/>
                    <a:lstStyle/>
                    <a:p>
                      <a:pPr algn="ctr"/>
                      <a:r>
                        <a:rPr lang="en-IN" sz="1400" dirty="0"/>
                        <a:t>3</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Improving Blood Bank Inventory Management Using Double Cross-match.</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gn="ctr"/>
                      <a:r>
                        <a:rPr lang="en-IN" sz="1400" dirty="0">
                          <a:latin typeface="Times New Roman" panose="02020603050405020304" pitchFamily="18" charset="0"/>
                          <a:cs typeface="Times New Roman" panose="02020603050405020304" pitchFamily="18" charset="0"/>
                        </a:rPr>
                        <a:t>2020</a:t>
                      </a:r>
                    </a:p>
                  </a:txBody>
                  <a:tcPr anchor="ctr"/>
                </a:tc>
                <a:tc>
                  <a:txBody>
                    <a:bodyPr/>
                    <a:lstStyle/>
                    <a:p>
                      <a:pPr algn="ctr"/>
                      <a:r>
                        <a:rPr lang="en-IN" sz="1400" dirty="0">
                          <a:latin typeface="Times New Roman" panose="02020603050405020304" pitchFamily="18" charset="0"/>
                          <a:cs typeface="Times New Roman" panose="02020603050405020304" pitchFamily="18" charset="0"/>
                        </a:rPr>
                        <a:t>Mehdi Najafi</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This waiting during the CRP increases the chance of blood reaching the maximum shelf life.</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873923390"/>
                  </a:ext>
                </a:extLst>
              </a:tr>
              <a:tr h="796286">
                <a:tc>
                  <a:txBody>
                    <a:bodyPr/>
                    <a:lstStyle/>
                    <a:p>
                      <a:pPr algn="ctr"/>
                      <a:r>
                        <a:rPr lang="en-IN" sz="1400" dirty="0"/>
                        <a:t>4</a:t>
                      </a:r>
                    </a:p>
                  </a:txBody>
                  <a:tcPr anchor="ctr"/>
                </a:tc>
                <a:tc>
                  <a:txBody>
                    <a:bodyPr/>
                    <a:lstStyle/>
                    <a:p>
                      <a:pPr algn="ctr"/>
                      <a:r>
                        <a:rPr lang="en-IN" sz="1400" dirty="0">
                          <a:latin typeface="Times New Roman" panose="02020603050405020304" pitchFamily="18" charset="0"/>
                          <a:cs typeface="Times New Roman" panose="02020603050405020304" pitchFamily="18" charset="0"/>
                        </a:rPr>
                        <a:t>Smart Blood Bank App</a:t>
                      </a:r>
                    </a:p>
                  </a:txBody>
                  <a:tcPr anchor="ctr"/>
                </a:tc>
                <a:tc>
                  <a:txBody>
                    <a:bodyPr/>
                    <a:lstStyle/>
                    <a:p>
                      <a:pPr algn="ctr"/>
                      <a:r>
                        <a:rPr lang="en-IN" sz="1400" dirty="0">
                          <a:latin typeface="Times New Roman" panose="02020603050405020304" pitchFamily="18" charset="0"/>
                          <a:cs typeface="Times New Roman" panose="02020603050405020304" pitchFamily="18" charset="0"/>
                        </a:rPr>
                        <a:t>2019</a:t>
                      </a:r>
                    </a:p>
                  </a:txBody>
                  <a:tcPr anchor="ctr"/>
                </a:tc>
                <a:tc>
                  <a:txBody>
                    <a:bodyPr/>
                    <a:lstStyle/>
                    <a:p>
                      <a:pPr algn="ctr"/>
                      <a:r>
                        <a:rPr lang="en-IN" sz="1400" dirty="0">
                          <a:latin typeface="Times New Roman" panose="02020603050405020304" pitchFamily="18" charset="0"/>
                          <a:cs typeface="Times New Roman" panose="02020603050405020304" pitchFamily="18" charset="0"/>
                        </a:rPr>
                        <a:t>Surabhi S. </a:t>
                      </a:r>
                      <a:r>
                        <a:rPr lang="en-IN" sz="1400" dirty="0" err="1">
                          <a:latin typeface="Times New Roman" panose="02020603050405020304" pitchFamily="18" charset="0"/>
                          <a:cs typeface="Times New Roman" panose="02020603050405020304" pitchFamily="18" charset="0"/>
                        </a:rPr>
                        <a:t>Pohandulkar</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sz="1400" dirty="0">
                          <a:latin typeface="Times New Roman" panose="02020603050405020304" pitchFamily="18" charset="0"/>
                          <a:cs typeface="Times New Roman" panose="02020603050405020304" pitchFamily="18" charset="0"/>
                        </a:rPr>
                        <a:t>Blood is the vital part of the body. It can not be produced artificially in any laboratory.</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507604220"/>
                  </a:ext>
                </a:extLst>
              </a:tr>
            </a:tbl>
          </a:graphicData>
        </a:graphic>
      </p:graphicFrame>
      <p:sp>
        <p:nvSpPr>
          <p:cNvPr id="9" name="Footer Placeholder 8">
            <a:extLst>
              <a:ext uri="{FF2B5EF4-FFF2-40B4-BE49-F238E27FC236}">
                <a16:creationId xmlns:a16="http://schemas.microsoft.com/office/drawing/2014/main" id="{86D30F31-8726-D105-6608-26AA4DB4BB7F}"/>
              </a:ext>
            </a:extLst>
          </p:cNvPr>
          <p:cNvSpPr>
            <a:spLocks noGrp="1"/>
          </p:cNvSpPr>
          <p:nvPr>
            <p:ph type="ftr" sz="quarter" idx="11"/>
          </p:nvPr>
        </p:nvSpPr>
        <p:spPr/>
        <p:txBody>
          <a:bodyPr/>
          <a:lstStyle/>
          <a:p>
            <a:r>
              <a:rPr lang="en-US"/>
              <a:t>JSPM’s BSIOTR, Wagholi, Pune</a:t>
            </a:r>
            <a:endParaRPr lang="en-US" dirty="0"/>
          </a:p>
        </p:txBody>
      </p:sp>
      <p:sp>
        <p:nvSpPr>
          <p:cNvPr id="10" name="Slide Number Placeholder 9">
            <a:extLst>
              <a:ext uri="{FF2B5EF4-FFF2-40B4-BE49-F238E27FC236}">
                <a16:creationId xmlns:a16="http://schemas.microsoft.com/office/drawing/2014/main" id="{3B2BABFB-D16A-F129-6325-54F9E17C69ED}"/>
              </a:ext>
            </a:extLst>
          </p:cNvPr>
          <p:cNvSpPr>
            <a:spLocks noGrp="1"/>
          </p:cNvSpPr>
          <p:nvPr>
            <p:ph type="sldNum" sz="quarter" idx="12"/>
          </p:nvPr>
        </p:nvSpPr>
        <p:spPr/>
        <p:txBody>
          <a:bodyPr/>
          <a:lstStyle/>
          <a:p>
            <a:fld id="{7161C815-E3C8-4F84-A404-75109D49E891}" type="slidenum">
              <a:rPr lang="en-US" smtClean="0"/>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793E3-F7E8-3E56-494F-FE4E075A2444}"/>
              </a:ext>
            </a:extLst>
          </p:cNvPr>
          <p:cNvSpPr>
            <a:spLocks noGrp="1"/>
          </p:cNvSpPr>
          <p:nvPr>
            <p:ph type="title"/>
          </p:nvPr>
        </p:nvSpPr>
        <p:spPr>
          <a:xfrm>
            <a:off x="1421163" y="190205"/>
            <a:ext cx="6096000" cy="1143000"/>
          </a:xfrm>
        </p:spPr>
        <p:txBody>
          <a:bodyPr>
            <a:normAutofit/>
          </a:bodyPr>
          <a:lstStyle/>
          <a:p>
            <a:r>
              <a:rPr lang="en-IN" sz="3600" b="1" dirty="0">
                <a:latin typeface="Times New Roman" panose="02020603050405020304" pitchFamily="18" charset="0"/>
                <a:cs typeface="Times New Roman" panose="02020603050405020304" pitchFamily="18" charset="0"/>
              </a:rPr>
              <a:t>Existing System </a:t>
            </a:r>
          </a:p>
        </p:txBody>
      </p:sp>
      <p:sp>
        <p:nvSpPr>
          <p:cNvPr id="3" name="Content Placeholder 2">
            <a:extLst>
              <a:ext uri="{FF2B5EF4-FFF2-40B4-BE49-F238E27FC236}">
                <a16:creationId xmlns:a16="http://schemas.microsoft.com/office/drawing/2014/main" id="{2476C42F-3277-3D47-5989-FA02D7200489}"/>
              </a:ext>
            </a:extLst>
          </p:cNvPr>
          <p:cNvSpPr>
            <a:spLocks noGrp="1"/>
          </p:cNvSpPr>
          <p:nvPr>
            <p:ph idx="1"/>
          </p:nvPr>
        </p:nvSpPr>
        <p:spPr/>
        <p:txBody>
          <a:bodyPr/>
          <a:lstStyle/>
          <a:p>
            <a:pPr marL="0" indent="0">
              <a:buNone/>
            </a:pPr>
            <a:endParaRPr lang="en-IN" dirty="0">
              <a:latin typeface="Times New Roman" panose="02020603050405020304" pitchFamily="18" charset="0"/>
              <a:cs typeface="Times New Roman" panose="02020603050405020304" pitchFamily="18" charset="0"/>
            </a:endParaRPr>
          </a:p>
          <a:p>
            <a:pPr marL="0" marR="0" indent="0" algn="just">
              <a:lnSpc>
                <a:spcPct val="107000"/>
              </a:lnSpc>
              <a:spcBef>
                <a:spcPts val="0"/>
              </a:spcBef>
              <a:spcAft>
                <a:spcPts val="800"/>
              </a:spcAft>
              <a:buNone/>
            </a:pPr>
            <a:r>
              <a:rPr lang="en-IN" sz="2200" kern="0" dirty="0">
                <a:effectLst/>
                <a:latin typeface="Times New Roman" panose="02020603050405020304" pitchFamily="18" charset="0"/>
                <a:ea typeface="Times New Roman" panose="02020603050405020304" pitchFamily="18" charset="0"/>
                <a:cs typeface="Times New Roman" panose="02020603050405020304" pitchFamily="18" charset="0"/>
              </a:rPr>
              <a:t>	Many existing blood bank and donor management systems are manual, paper-based, or outdated. These systems are inefficient, prone to errors, and time-consuming. Additionally, there is poor coordination between stakeholders, resulting in inadequate blood supply and poor management. Furthermore, donor participation is low, with many donors not willing to donate blood due to fear, misinformation, or lack of incentives. These challenges affect the overall effectiveness of the blood bank and donor management system.</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pic>
        <p:nvPicPr>
          <p:cNvPr id="4" name="Picture 3" descr="C:\Users\HODCOMP\Desktop\CE3AF389D59DDB81.jpg">
            <a:extLst>
              <a:ext uri="{FF2B5EF4-FFF2-40B4-BE49-F238E27FC236}">
                <a16:creationId xmlns:a16="http://schemas.microsoft.com/office/drawing/2014/main" id="{E9A35941-2C7B-8E31-2D9C-6FBFF4676BEF}"/>
              </a:ext>
            </a:extLst>
          </p:cNvPr>
          <p:cNvPicPr>
            <a:picLocks noChangeAspect="1" noChangeArrowheads="1"/>
          </p:cNvPicPr>
          <p:nvPr/>
        </p:nvPicPr>
        <p:blipFill>
          <a:blip r:embed="rId2" cstate="print"/>
          <a:srcRect/>
          <a:stretch>
            <a:fillRect/>
          </a:stretch>
        </p:blipFill>
        <p:spPr bwMode="auto">
          <a:xfrm>
            <a:off x="7696200" y="125507"/>
            <a:ext cx="1178125" cy="1147024"/>
          </a:xfrm>
          <a:prstGeom prst="rect">
            <a:avLst/>
          </a:prstGeom>
          <a:noFill/>
          <a:ln w="9525">
            <a:noFill/>
            <a:miter lim="800000"/>
            <a:headEnd/>
            <a:tailEnd/>
          </a:ln>
        </p:spPr>
      </p:pic>
      <p:pic>
        <p:nvPicPr>
          <p:cNvPr id="5" name="Picture 7" descr="Description: Description: Description: Description: Description: I:\ALL PICTURE\JSPM LOGO.JPG">
            <a:extLst>
              <a:ext uri="{FF2B5EF4-FFF2-40B4-BE49-F238E27FC236}">
                <a16:creationId xmlns:a16="http://schemas.microsoft.com/office/drawing/2014/main" id="{FEE2836F-DB03-C8F6-5ADD-EAFFEB2930E7}"/>
              </a:ext>
            </a:extLst>
          </p:cNvPr>
          <p:cNvPicPr>
            <a:picLocks noChangeAspect="1" noChangeArrowheads="1"/>
          </p:cNvPicPr>
          <p:nvPr/>
        </p:nvPicPr>
        <p:blipFill>
          <a:blip r:embed="rId3" cstate="print"/>
          <a:srcRect/>
          <a:stretch>
            <a:fillRect/>
          </a:stretch>
        </p:blipFill>
        <p:spPr bwMode="auto">
          <a:xfrm>
            <a:off x="132894" y="212616"/>
            <a:ext cx="1180950" cy="1028995"/>
          </a:xfrm>
          <a:prstGeom prst="rect">
            <a:avLst/>
          </a:prstGeom>
          <a:noFill/>
          <a:ln w="9525">
            <a:noFill/>
            <a:miter lim="800000"/>
            <a:headEnd/>
            <a:tailEnd/>
          </a:ln>
        </p:spPr>
      </p:pic>
      <p:sp>
        <p:nvSpPr>
          <p:cNvPr id="8" name="Footer Placeholder 7">
            <a:extLst>
              <a:ext uri="{FF2B5EF4-FFF2-40B4-BE49-F238E27FC236}">
                <a16:creationId xmlns:a16="http://schemas.microsoft.com/office/drawing/2014/main" id="{E98BE9FC-77DA-0B47-3DF9-9AC62C3D1A05}"/>
              </a:ext>
            </a:extLst>
          </p:cNvPr>
          <p:cNvSpPr>
            <a:spLocks noGrp="1"/>
          </p:cNvSpPr>
          <p:nvPr>
            <p:ph type="ftr" sz="quarter" idx="11"/>
          </p:nvPr>
        </p:nvSpPr>
        <p:spPr/>
        <p:txBody>
          <a:bodyPr/>
          <a:lstStyle/>
          <a:p>
            <a:r>
              <a:rPr lang="en-US"/>
              <a:t>JSPM’s BSIOTR, Wagholi, Pune</a:t>
            </a:r>
            <a:endParaRPr lang="en-US" dirty="0"/>
          </a:p>
        </p:txBody>
      </p:sp>
      <p:sp>
        <p:nvSpPr>
          <p:cNvPr id="9" name="Slide Number Placeholder 8">
            <a:extLst>
              <a:ext uri="{FF2B5EF4-FFF2-40B4-BE49-F238E27FC236}">
                <a16:creationId xmlns:a16="http://schemas.microsoft.com/office/drawing/2014/main" id="{AE44695F-596B-9781-64F6-B67095E2FD70}"/>
              </a:ext>
            </a:extLst>
          </p:cNvPr>
          <p:cNvSpPr>
            <a:spLocks noGrp="1"/>
          </p:cNvSpPr>
          <p:nvPr>
            <p:ph type="sldNum" sz="quarter" idx="12"/>
          </p:nvPr>
        </p:nvSpPr>
        <p:spPr/>
        <p:txBody>
          <a:bodyPr/>
          <a:lstStyle/>
          <a:p>
            <a:fld id="{7161C815-E3C8-4F84-A404-75109D49E891}" type="slidenum">
              <a:rPr lang="en-US" smtClean="0"/>
              <a:pPr/>
              <a:t>7</a:t>
            </a:fld>
            <a:endParaRPr lang="en-US" dirty="0"/>
          </a:p>
        </p:txBody>
      </p:sp>
    </p:spTree>
    <p:extLst>
      <p:ext uri="{BB962C8B-B14F-4D97-AF65-F5344CB8AC3E}">
        <p14:creationId xmlns:p14="http://schemas.microsoft.com/office/powerpoint/2010/main" val="2173109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999A7-2ABC-83AC-1FBE-AE25F89DBD3F}"/>
              </a:ext>
            </a:extLst>
          </p:cNvPr>
          <p:cNvSpPr>
            <a:spLocks noGrp="1"/>
          </p:cNvSpPr>
          <p:nvPr>
            <p:ph type="title"/>
          </p:nvPr>
        </p:nvSpPr>
        <p:spPr/>
        <p:txBody>
          <a:bodyPr/>
          <a:lstStyle/>
          <a:p>
            <a:r>
              <a:rPr lang="en-IN" sz="4400" b="1" dirty="0">
                <a:latin typeface="Times New Roman" panose="02020603050405020304" pitchFamily="18" charset="0"/>
                <a:cs typeface="Times New Roman" panose="02020603050405020304" pitchFamily="18" charset="0"/>
              </a:rPr>
              <a:t>Existing System </a:t>
            </a:r>
            <a:endParaRPr lang="en-IN" dirty="0"/>
          </a:p>
        </p:txBody>
      </p:sp>
      <p:pic>
        <p:nvPicPr>
          <p:cNvPr id="5" name="Content Placeholder 4">
            <a:extLst>
              <a:ext uri="{FF2B5EF4-FFF2-40B4-BE49-F238E27FC236}">
                <a16:creationId xmlns:a16="http://schemas.microsoft.com/office/drawing/2014/main" id="{0430F012-80DC-F4D1-5AC5-1884A756D249}"/>
              </a:ext>
            </a:extLst>
          </p:cNvPr>
          <p:cNvPicPr>
            <a:picLocks noGrp="1" noChangeAspect="1"/>
          </p:cNvPicPr>
          <p:nvPr>
            <p:ph idx="1"/>
          </p:nvPr>
        </p:nvPicPr>
        <p:blipFill>
          <a:blip r:embed="rId2"/>
          <a:stretch>
            <a:fillRect/>
          </a:stretch>
        </p:blipFill>
        <p:spPr>
          <a:xfrm>
            <a:off x="1971363" y="1752600"/>
            <a:ext cx="5201274" cy="3829844"/>
          </a:xfrm>
        </p:spPr>
      </p:pic>
      <p:pic>
        <p:nvPicPr>
          <p:cNvPr id="6" name="Picture 7" descr="Description: Description: Description: Description: Description: I:\ALL PICTURE\JSPM LOGO.JPG">
            <a:extLst>
              <a:ext uri="{FF2B5EF4-FFF2-40B4-BE49-F238E27FC236}">
                <a16:creationId xmlns:a16="http://schemas.microsoft.com/office/drawing/2014/main" id="{E14DA229-28D8-B2E8-D642-45D00F9F1EBD}"/>
              </a:ext>
            </a:extLst>
          </p:cNvPr>
          <p:cNvPicPr>
            <a:picLocks noChangeAspect="1" noChangeArrowheads="1"/>
          </p:cNvPicPr>
          <p:nvPr/>
        </p:nvPicPr>
        <p:blipFill>
          <a:blip r:embed="rId3" cstate="print"/>
          <a:srcRect/>
          <a:stretch>
            <a:fillRect/>
          </a:stretch>
        </p:blipFill>
        <p:spPr bwMode="auto">
          <a:xfrm>
            <a:off x="504056" y="259205"/>
            <a:ext cx="1467307" cy="1278506"/>
          </a:xfrm>
          <a:prstGeom prst="rect">
            <a:avLst/>
          </a:prstGeom>
          <a:noFill/>
          <a:ln w="9525">
            <a:noFill/>
            <a:miter lim="800000"/>
            <a:headEnd/>
            <a:tailEnd/>
          </a:ln>
        </p:spPr>
      </p:pic>
      <p:pic>
        <p:nvPicPr>
          <p:cNvPr id="7" name="Picture 3" descr="C:\Users\HODCOMP\Desktop\CE3AF389D59DDB81.jpg">
            <a:extLst>
              <a:ext uri="{FF2B5EF4-FFF2-40B4-BE49-F238E27FC236}">
                <a16:creationId xmlns:a16="http://schemas.microsoft.com/office/drawing/2014/main" id="{D068334C-1052-DFA6-40AF-38DB468EF4C0}"/>
              </a:ext>
            </a:extLst>
          </p:cNvPr>
          <p:cNvPicPr>
            <a:picLocks noChangeAspect="1" noChangeArrowheads="1"/>
          </p:cNvPicPr>
          <p:nvPr/>
        </p:nvPicPr>
        <p:blipFill>
          <a:blip r:embed="rId4" cstate="print"/>
          <a:srcRect/>
          <a:stretch>
            <a:fillRect/>
          </a:stretch>
        </p:blipFill>
        <p:spPr bwMode="auto">
          <a:xfrm>
            <a:off x="7543800" y="152400"/>
            <a:ext cx="1330525" cy="1295401"/>
          </a:xfrm>
          <a:prstGeom prst="rect">
            <a:avLst/>
          </a:prstGeom>
          <a:noFill/>
          <a:ln w="9525">
            <a:noFill/>
            <a:miter lim="800000"/>
            <a:headEnd/>
            <a:tailEnd/>
          </a:ln>
        </p:spPr>
      </p:pic>
      <p:sp>
        <p:nvSpPr>
          <p:cNvPr id="10" name="Footer Placeholder 9">
            <a:extLst>
              <a:ext uri="{FF2B5EF4-FFF2-40B4-BE49-F238E27FC236}">
                <a16:creationId xmlns:a16="http://schemas.microsoft.com/office/drawing/2014/main" id="{5899B460-E31E-4306-C66A-587386C2B727}"/>
              </a:ext>
            </a:extLst>
          </p:cNvPr>
          <p:cNvSpPr>
            <a:spLocks noGrp="1"/>
          </p:cNvSpPr>
          <p:nvPr>
            <p:ph type="ftr" sz="quarter" idx="11"/>
          </p:nvPr>
        </p:nvSpPr>
        <p:spPr/>
        <p:txBody>
          <a:bodyPr/>
          <a:lstStyle/>
          <a:p>
            <a:r>
              <a:rPr lang="en-US"/>
              <a:t>JSPM’s BSIOTR, Wagholi, Pune</a:t>
            </a:r>
            <a:endParaRPr lang="en-US" dirty="0"/>
          </a:p>
        </p:txBody>
      </p:sp>
      <p:sp>
        <p:nvSpPr>
          <p:cNvPr id="11" name="Slide Number Placeholder 10">
            <a:extLst>
              <a:ext uri="{FF2B5EF4-FFF2-40B4-BE49-F238E27FC236}">
                <a16:creationId xmlns:a16="http://schemas.microsoft.com/office/drawing/2014/main" id="{3735F2B8-0779-99BC-0C73-0CAB08980C7D}"/>
              </a:ext>
            </a:extLst>
          </p:cNvPr>
          <p:cNvSpPr>
            <a:spLocks noGrp="1"/>
          </p:cNvSpPr>
          <p:nvPr>
            <p:ph type="sldNum" sz="quarter" idx="12"/>
          </p:nvPr>
        </p:nvSpPr>
        <p:spPr/>
        <p:txBody>
          <a:bodyPr/>
          <a:lstStyle/>
          <a:p>
            <a:fld id="{7161C815-E3C8-4F84-A404-75109D49E891}" type="slidenum">
              <a:rPr lang="en-US" smtClean="0"/>
              <a:pPr/>
              <a:t>8</a:t>
            </a:fld>
            <a:endParaRPr lang="en-US" dirty="0"/>
          </a:p>
        </p:txBody>
      </p:sp>
    </p:spTree>
    <p:extLst>
      <p:ext uri="{BB962C8B-B14F-4D97-AF65-F5344CB8AC3E}">
        <p14:creationId xmlns:p14="http://schemas.microsoft.com/office/powerpoint/2010/main" val="3030047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C2C95-74FA-6F95-ED6F-25AB41CE3127}"/>
              </a:ext>
            </a:extLst>
          </p:cNvPr>
          <p:cNvSpPr>
            <a:spLocks noGrp="1"/>
          </p:cNvSpPr>
          <p:nvPr>
            <p:ph type="title"/>
          </p:nvPr>
        </p:nvSpPr>
        <p:spPr>
          <a:xfrm>
            <a:off x="457200" y="726050"/>
            <a:ext cx="8229600" cy="1143000"/>
          </a:xfrm>
        </p:spPr>
        <p:txBody>
          <a:bodyPr>
            <a:normAutofit fontScale="90000"/>
          </a:bodyPr>
          <a:lstStyle/>
          <a:p>
            <a:r>
              <a:rPr lang="en-IN" sz="4000" b="1" kern="0" dirty="0">
                <a:effectLst/>
                <a:latin typeface="Times New Roman" panose="02020603050405020304" pitchFamily="18" charset="0"/>
                <a:ea typeface="Times New Roman" panose="02020603050405020304" pitchFamily="18" charset="0"/>
                <a:cs typeface="Times New Roman" panose="02020603050405020304" pitchFamily="18" charset="0"/>
              </a:rPr>
              <a:t>PROPOSED SYSTEM</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5222A6E5-139B-C455-8BD5-39E80B0BD847}"/>
              </a:ext>
            </a:extLst>
          </p:cNvPr>
          <p:cNvSpPr>
            <a:spLocks noGrp="1"/>
          </p:cNvSpPr>
          <p:nvPr>
            <p:ph idx="1"/>
          </p:nvPr>
        </p:nvSpPr>
        <p:spPr/>
        <p:txBody>
          <a:bodyPr>
            <a:normAutofit/>
          </a:bodyPr>
          <a:lstStyle/>
          <a:p>
            <a:pPr marL="0" indent="0" algn="just">
              <a:buNone/>
            </a:pPr>
            <a:r>
              <a:rPr lang="en-IN" sz="2200" kern="0" dirty="0">
                <a:effectLst/>
                <a:latin typeface="Times New Roman" panose="02020603050405020304" pitchFamily="18" charset="0"/>
                <a:ea typeface="Times New Roman" panose="02020603050405020304" pitchFamily="18" charset="0"/>
              </a:rPr>
              <a:t>	The proposed blood bank and donor management system comprise three main components: the blood inventory management system, the donor management system, and the blood product distribution system. The blood inventory management system utilizes Web Based technology to store secure and tamper-proof records of blood donations, testing results, and inventory levels. The donor management system enables efficient management of donor records, including personal information, medical history, and eligibility criteria. </a:t>
            </a:r>
            <a:endParaRPr lang="en-IN" sz="2200" dirty="0"/>
          </a:p>
        </p:txBody>
      </p:sp>
      <p:pic>
        <p:nvPicPr>
          <p:cNvPr id="4" name="Picture 7" descr="Description: Description: Description: Description: Description: I:\ALL PICTURE\JSPM LOGO.JPG">
            <a:extLst>
              <a:ext uri="{FF2B5EF4-FFF2-40B4-BE49-F238E27FC236}">
                <a16:creationId xmlns:a16="http://schemas.microsoft.com/office/drawing/2014/main" id="{704ACCED-5258-6BD1-0405-13A84EB904D0}"/>
              </a:ext>
            </a:extLst>
          </p:cNvPr>
          <p:cNvPicPr>
            <a:picLocks noChangeAspect="1" noChangeArrowheads="1"/>
          </p:cNvPicPr>
          <p:nvPr/>
        </p:nvPicPr>
        <p:blipFill>
          <a:blip r:embed="rId2" cstate="print"/>
          <a:srcRect/>
          <a:stretch>
            <a:fillRect/>
          </a:stretch>
        </p:blipFill>
        <p:spPr bwMode="auto">
          <a:xfrm>
            <a:off x="381000" y="294800"/>
            <a:ext cx="1467307" cy="1278506"/>
          </a:xfrm>
          <a:prstGeom prst="rect">
            <a:avLst/>
          </a:prstGeom>
          <a:noFill/>
          <a:ln w="9525">
            <a:noFill/>
            <a:miter lim="800000"/>
            <a:headEnd/>
            <a:tailEnd/>
          </a:ln>
        </p:spPr>
      </p:pic>
      <p:pic>
        <p:nvPicPr>
          <p:cNvPr id="5" name="Picture 3" descr="C:\Users\HODCOMP\Desktop\CE3AF389D59DDB81.jpg">
            <a:extLst>
              <a:ext uri="{FF2B5EF4-FFF2-40B4-BE49-F238E27FC236}">
                <a16:creationId xmlns:a16="http://schemas.microsoft.com/office/drawing/2014/main" id="{69513848-7CE3-4879-C10F-47A2DC3156CF}"/>
              </a:ext>
            </a:extLst>
          </p:cNvPr>
          <p:cNvPicPr>
            <a:picLocks noChangeAspect="1" noChangeArrowheads="1"/>
          </p:cNvPicPr>
          <p:nvPr/>
        </p:nvPicPr>
        <p:blipFill>
          <a:blip r:embed="rId3" cstate="print"/>
          <a:srcRect/>
          <a:stretch>
            <a:fillRect/>
          </a:stretch>
        </p:blipFill>
        <p:spPr bwMode="auto">
          <a:xfrm>
            <a:off x="7543800" y="152400"/>
            <a:ext cx="1330525" cy="1295401"/>
          </a:xfrm>
          <a:prstGeom prst="rect">
            <a:avLst/>
          </a:prstGeom>
          <a:noFill/>
          <a:ln w="9525">
            <a:noFill/>
            <a:miter lim="800000"/>
            <a:headEnd/>
            <a:tailEnd/>
          </a:ln>
        </p:spPr>
      </p:pic>
      <p:sp>
        <p:nvSpPr>
          <p:cNvPr id="8" name="Footer Placeholder 7">
            <a:extLst>
              <a:ext uri="{FF2B5EF4-FFF2-40B4-BE49-F238E27FC236}">
                <a16:creationId xmlns:a16="http://schemas.microsoft.com/office/drawing/2014/main" id="{D80BFD87-6203-CAE8-ACCD-20596D552835}"/>
              </a:ext>
            </a:extLst>
          </p:cNvPr>
          <p:cNvSpPr>
            <a:spLocks noGrp="1"/>
          </p:cNvSpPr>
          <p:nvPr>
            <p:ph type="ftr" sz="quarter" idx="11"/>
          </p:nvPr>
        </p:nvSpPr>
        <p:spPr/>
        <p:txBody>
          <a:bodyPr/>
          <a:lstStyle/>
          <a:p>
            <a:r>
              <a:rPr lang="en-US"/>
              <a:t>JSPM’s BSIOTR, Wagholi, Pune</a:t>
            </a:r>
            <a:endParaRPr lang="en-US" dirty="0"/>
          </a:p>
        </p:txBody>
      </p:sp>
      <p:sp>
        <p:nvSpPr>
          <p:cNvPr id="9" name="Slide Number Placeholder 8">
            <a:extLst>
              <a:ext uri="{FF2B5EF4-FFF2-40B4-BE49-F238E27FC236}">
                <a16:creationId xmlns:a16="http://schemas.microsoft.com/office/drawing/2014/main" id="{48E12369-7E5C-6706-DE78-EFC38DC4FE63}"/>
              </a:ext>
            </a:extLst>
          </p:cNvPr>
          <p:cNvSpPr>
            <a:spLocks noGrp="1"/>
          </p:cNvSpPr>
          <p:nvPr>
            <p:ph type="sldNum" sz="quarter" idx="12"/>
          </p:nvPr>
        </p:nvSpPr>
        <p:spPr/>
        <p:txBody>
          <a:bodyPr/>
          <a:lstStyle/>
          <a:p>
            <a:fld id="{7161C815-E3C8-4F84-A404-75109D49E891}" type="slidenum">
              <a:rPr lang="en-US" smtClean="0"/>
              <a:pPr/>
              <a:t>9</a:t>
            </a:fld>
            <a:endParaRPr lang="en-US" dirty="0"/>
          </a:p>
        </p:txBody>
      </p:sp>
    </p:spTree>
    <p:extLst>
      <p:ext uri="{BB962C8B-B14F-4D97-AF65-F5344CB8AC3E}">
        <p14:creationId xmlns:p14="http://schemas.microsoft.com/office/powerpoint/2010/main" val="2805743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D119B-3DDD-96B5-D776-9516FF324222}"/>
              </a:ext>
            </a:extLst>
          </p:cNvPr>
          <p:cNvSpPr>
            <a:spLocks noGrp="1"/>
          </p:cNvSpPr>
          <p:nvPr>
            <p:ph type="title"/>
          </p:nvPr>
        </p:nvSpPr>
        <p:spPr>
          <a:xfrm>
            <a:off x="457200" y="1013474"/>
            <a:ext cx="8229600" cy="1143000"/>
          </a:xfrm>
        </p:spPr>
        <p:txBody>
          <a:bodyPr/>
          <a:lstStyle/>
          <a:p>
            <a:r>
              <a:rPr lang="en-IN" sz="4400" b="1" kern="0" dirty="0">
                <a:effectLst/>
                <a:latin typeface="Times New Roman" panose="02020603050405020304" pitchFamily="18" charset="0"/>
                <a:ea typeface="Times New Roman" panose="02020603050405020304" pitchFamily="18" charset="0"/>
                <a:cs typeface="Times New Roman" panose="02020603050405020304" pitchFamily="18" charset="0"/>
              </a:rPr>
              <a:t>PROPOSED SYSTEM</a:t>
            </a:r>
            <a:endParaRPr lang="en-IN" dirty="0"/>
          </a:p>
        </p:txBody>
      </p:sp>
      <p:pic>
        <p:nvPicPr>
          <p:cNvPr id="4" name="Content Placeholder 3">
            <a:extLst>
              <a:ext uri="{FF2B5EF4-FFF2-40B4-BE49-F238E27FC236}">
                <a16:creationId xmlns:a16="http://schemas.microsoft.com/office/drawing/2014/main" id="{1CA09CFE-62F3-F87E-F72B-3E6D01A693E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00090" y="2667000"/>
            <a:ext cx="6543820" cy="2847975"/>
          </a:xfrm>
          <a:prstGeom prst="rect">
            <a:avLst/>
          </a:prstGeom>
        </p:spPr>
      </p:pic>
      <p:pic>
        <p:nvPicPr>
          <p:cNvPr id="5" name="Picture 7" descr="Description: Description: Description: Description: Description: I:\ALL PICTURE\JSPM LOGO.JPG">
            <a:extLst>
              <a:ext uri="{FF2B5EF4-FFF2-40B4-BE49-F238E27FC236}">
                <a16:creationId xmlns:a16="http://schemas.microsoft.com/office/drawing/2014/main" id="{BCAEB3C4-5B30-C18B-5C2B-6A2A606C25AA}"/>
              </a:ext>
            </a:extLst>
          </p:cNvPr>
          <p:cNvPicPr>
            <a:picLocks noChangeAspect="1" noChangeArrowheads="1"/>
          </p:cNvPicPr>
          <p:nvPr/>
        </p:nvPicPr>
        <p:blipFill>
          <a:blip r:embed="rId3" cstate="print"/>
          <a:srcRect/>
          <a:stretch>
            <a:fillRect/>
          </a:stretch>
        </p:blipFill>
        <p:spPr bwMode="auto">
          <a:xfrm>
            <a:off x="228600" y="304539"/>
            <a:ext cx="1467307" cy="1278506"/>
          </a:xfrm>
          <a:prstGeom prst="rect">
            <a:avLst/>
          </a:prstGeom>
          <a:noFill/>
          <a:ln w="9525">
            <a:noFill/>
            <a:miter lim="800000"/>
            <a:headEnd/>
            <a:tailEnd/>
          </a:ln>
        </p:spPr>
      </p:pic>
      <p:pic>
        <p:nvPicPr>
          <p:cNvPr id="6" name="Picture 3" descr="C:\Users\HODCOMP\Desktop\CE3AF389D59DDB81.jpg">
            <a:extLst>
              <a:ext uri="{FF2B5EF4-FFF2-40B4-BE49-F238E27FC236}">
                <a16:creationId xmlns:a16="http://schemas.microsoft.com/office/drawing/2014/main" id="{DCCE516E-0BE8-46D9-6D86-F090910004CF}"/>
              </a:ext>
            </a:extLst>
          </p:cNvPr>
          <p:cNvPicPr>
            <a:picLocks noChangeAspect="1" noChangeArrowheads="1"/>
          </p:cNvPicPr>
          <p:nvPr/>
        </p:nvPicPr>
        <p:blipFill>
          <a:blip r:embed="rId4" cstate="print"/>
          <a:srcRect/>
          <a:stretch>
            <a:fillRect/>
          </a:stretch>
        </p:blipFill>
        <p:spPr bwMode="auto">
          <a:xfrm>
            <a:off x="7543800" y="152400"/>
            <a:ext cx="1330525" cy="1295401"/>
          </a:xfrm>
          <a:prstGeom prst="rect">
            <a:avLst/>
          </a:prstGeom>
          <a:noFill/>
          <a:ln w="9525">
            <a:noFill/>
            <a:miter lim="800000"/>
            <a:headEnd/>
            <a:tailEnd/>
          </a:ln>
        </p:spPr>
      </p:pic>
      <p:sp>
        <p:nvSpPr>
          <p:cNvPr id="9" name="Footer Placeholder 8">
            <a:extLst>
              <a:ext uri="{FF2B5EF4-FFF2-40B4-BE49-F238E27FC236}">
                <a16:creationId xmlns:a16="http://schemas.microsoft.com/office/drawing/2014/main" id="{B56883BB-79ED-484D-9848-B6D8B94A4ACB}"/>
              </a:ext>
            </a:extLst>
          </p:cNvPr>
          <p:cNvSpPr>
            <a:spLocks noGrp="1"/>
          </p:cNvSpPr>
          <p:nvPr>
            <p:ph type="ftr" sz="quarter" idx="11"/>
          </p:nvPr>
        </p:nvSpPr>
        <p:spPr/>
        <p:txBody>
          <a:bodyPr/>
          <a:lstStyle/>
          <a:p>
            <a:r>
              <a:rPr lang="en-US"/>
              <a:t>JSPM’s BSIOTR, Wagholi, Pune</a:t>
            </a:r>
            <a:endParaRPr lang="en-US" dirty="0"/>
          </a:p>
        </p:txBody>
      </p:sp>
      <p:sp>
        <p:nvSpPr>
          <p:cNvPr id="10" name="Slide Number Placeholder 9">
            <a:extLst>
              <a:ext uri="{FF2B5EF4-FFF2-40B4-BE49-F238E27FC236}">
                <a16:creationId xmlns:a16="http://schemas.microsoft.com/office/drawing/2014/main" id="{79F3EFBD-FE54-4E6E-81CD-4BEBD3472710}"/>
              </a:ext>
            </a:extLst>
          </p:cNvPr>
          <p:cNvSpPr>
            <a:spLocks noGrp="1"/>
          </p:cNvSpPr>
          <p:nvPr>
            <p:ph type="sldNum" sz="quarter" idx="12"/>
          </p:nvPr>
        </p:nvSpPr>
        <p:spPr/>
        <p:txBody>
          <a:bodyPr/>
          <a:lstStyle/>
          <a:p>
            <a:fld id="{7161C815-E3C8-4F84-A404-75109D49E891}" type="slidenum">
              <a:rPr lang="en-US" smtClean="0"/>
              <a:pPr/>
              <a:t>10</a:t>
            </a:fld>
            <a:endParaRPr lang="en-US" dirty="0"/>
          </a:p>
        </p:txBody>
      </p:sp>
    </p:spTree>
    <p:extLst>
      <p:ext uri="{BB962C8B-B14F-4D97-AF65-F5344CB8AC3E}">
        <p14:creationId xmlns:p14="http://schemas.microsoft.com/office/powerpoint/2010/main" val="962069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FD52F-F4B6-3AEC-0181-7BF7CD638BE5}"/>
              </a:ext>
            </a:extLst>
          </p:cNvPr>
          <p:cNvSpPr>
            <a:spLocks noGrp="1"/>
          </p:cNvSpPr>
          <p:nvPr>
            <p:ph type="title"/>
          </p:nvPr>
        </p:nvSpPr>
        <p:spPr/>
        <p:txBody>
          <a:bodyPr>
            <a:normAutofit fontScale="90000"/>
          </a:bodyPr>
          <a:lstStyle/>
          <a:p>
            <a:r>
              <a:rPr lang="en-US" sz="4400" b="1" kern="12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System Architecture/</a:t>
            </a:r>
            <a:br>
              <a:rPr lang="en-US" sz="4400" b="1" kern="12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br>
            <a:r>
              <a:rPr lang="en-US" sz="4400" b="1" kern="12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Block Diagram</a:t>
            </a:r>
            <a:endParaRPr lang="en-IN" dirty="0"/>
          </a:p>
        </p:txBody>
      </p:sp>
      <p:pic>
        <p:nvPicPr>
          <p:cNvPr id="5" name="Content Placeholder 4">
            <a:extLst>
              <a:ext uri="{FF2B5EF4-FFF2-40B4-BE49-F238E27FC236}">
                <a16:creationId xmlns:a16="http://schemas.microsoft.com/office/drawing/2014/main" id="{92D9CB3A-C8AC-8A5F-6168-99859AE720C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23937" y="1777206"/>
            <a:ext cx="7096125" cy="4171950"/>
          </a:xfrm>
        </p:spPr>
      </p:pic>
      <p:pic>
        <p:nvPicPr>
          <p:cNvPr id="6" name="Picture 7" descr="Description: Description: Description: Description: Description: I:\ALL PICTURE\JSPM LOGO.JPG">
            <a:extLst>
              <a:ext uri="{FF2B5EF4-FFF2-40B4-BE49-F238E27FC236}">
                <a16:creationId xmlns:a16="http://schemas.microsoft.com/office/drawing/2014/main" id="{554B7606-3C66-3510-8F37-F4EE71890CB0}"/>
              </a:ext>
            </a:extLst>
          </p:cNvPr>
          <p:cNvPicPr>
            <a:picLocks noChangeAspect="1" noChangeArrowheads="1"/>
          </p:cNvPicPr>
          <p:nvPr/>
        </p:nvPicPr>
        <p:blipFill>
          <a:blip r:embed="rId3" cstate="print"/>
          <a:srcRect/>
          <a:stretch>
            <a:fillRect/>
          </a:stretch>
        </p:blipFill>
        <p:spPr bwMode="auto">
          <a:xfrm>
            <a:off x="152400" y="78729"/>
            <a:ext cx="1467307" cy="1278506"/>
          </a:xfrm>
          <a:prstGeom prst="rect">
            <a:avLst/>
          </a:prstGeom>
          <a:noFill/>
          <a:ln w="9525">
            <a:noFill/>
            <a:miter lim="800000"/>
            <a:headEnd/>
            <a:tailEnd/>
          </a:ln>
        </p:spPr>
      </p:pic>
      <p:pic>
        <p:nvPicPr>
          <p:cNvPr id="7" name="Picture 3" descr="C:\Users\HODCOMP\Desktop\CE3AF389D59DDB81.jpg">
            <a:extLst>
              <a:ext uri="{FF2B5EF4-FFF2-40B4-BE49-F238E27FC236}">
                <a16:creationId xmlns:a16="http://schemas.microsoft.com/office/drawing/2014/main" id="{DDA03A06-6BDF-18F5-FBC4-2BD7A0ADE2A8}"/>
              </a:ext>
            </a:extLst>
          </p:cNvPr>
          <p:cNvPicPr>
            <a:picLocks noChangeAspect="1" noChangeArrowheads="1"/>
          </p:cNvPicPr>
          <p:nvPr/>
        </p:nvPicPr>
        <p:blipFill>
          <a:blip r:embed="rId4" cstate="print"/>
          <a:srcRect/>
          <a:stretch>
            <a:fillRect/>
          </a:stretch>
        </p:blipFill>
        <p:spPr bwMode="auto">
          <a:xfrm>
            <a:off x="7543800" y="152400"/>
            <a:ext cx="1330525" cy="1295401"/>
          </a:xfrm>
          <a:prstGeom prst="rect">
            <a:avLst/>
          </a:prstGeom>
          <a:noFill/>
          <a:ln w="9525">
            <a:noFill/>
            <a:miter lim="800000"/>
            <a:headEnd/>
            <a:tailEnd/>
          </a:ln>
        </p:spPr>
      </p:pic>
      <p:sp>
        <p:nvSpPr>
          <p:cNvPr id="10" name="Footer Placeholder 9">
            <a:extLst>
              <a:ext uri="{FF2B5EF4-FFF2-40B4-BE49-F238E27FC236}">
                <a16:creationId xmlns:a16="http://schemas.microsoft.com/office/drawing/2014/main" id="{E07CE948-DAE8-1D00-5007-25DB6D17FFC4}"/>
              </a:ext>
            </a:extLst>
          </p:cNvPr>
          <p:cNvSpPr>
            <a:spLocks noGrp="1"/>
          </p:cNvSpPr>
          <p:nvPr>
            <p:ph type="ftr" sz="quarter" idx="11"/>
          </p:nvPr>
        </p:nvSpPr>
        <p:spPr/>
        <p:txBody>
          <a:bodyPr/>
          <a:lstStyle/>
          <a:p>
            <a:r>
              <a:rPr lang="en-US"/>
              <a:t>JSPM’s BSIOTR, Wagholi, Pune</a:t>
            </a:r>
            <a:endParaRPr lang="en-US" dirty="0"/>
          </a:p>
        </p:txBody>
      </p:sp>
      <p:sp>
        <p:nvSpPr>
          <p:cNvPr id="11" name="Slide Number Placeholder 10">
            <a:extLst>
              <a:ext uri="{FF2B5EF4-FFF2-40B4-BE49-F238E27FC236}">
                <a16:creationId xmlns:a16="http://schemas.microsoft.com/office/drawing/2014/main" id="{09493AAB-8EE8-4986-F6B2-E970D1DBD2B6}"/>
              </a:ext>
            </a:extLst>
          </p:cNvPr>
          <p:cNvSpPr>
            <a:spLocks noGrp="1"/>
          </p:cNvSpPr>
          <p:nvPr>
            <p:ph type="sldNum" sz="quarter" idx="12"/>
          </p:nvPr>
        </p:nvSpPr>
        <p:spPr/>
        <p:txBody>
          <a:bodyPr/>
          <a:lstStyle/>
          <a:p>
            <a:fld id="{7161C815-E3C8-4F84-A404-75109D49E891}" type="slidenum">
              <a:rPr lang="en-US" smtClean="0"/>
              <a:pPr/>
              <a:t>11</a:t>
            </a:fld>
            <a:endParaRPr lang="en-US" dirty="0"/>
          </a:p>
        </p:txBody>
      </p:sp>
    </p:spTree>
    <p:extLst>
      <p:ext uri="{BB962C8B-B14F-4D97-AF65-F5344CB8AC3E}">
        <p14:creationId xmlns:p14="http://schemas.microsoft.com/office/powerpoint/2010/main" val="40797094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74638"/>
            <a:ext cx="5943600" cy="1143000"/>
          </a:xfrm>
        </p:spPr>
        <p:txBody>
          <a:bodyPr>
            <a:noAutofit/>
          </a:bodyPr>
          <a:lstStyle/>
          <a:p>
            <a:r>
              <a:rPr lang="en-US" sz="3600" b="1" dirty="0">
                <a:latin typeface="Times New Roman" pitchFamily="18" charset="0"/>
                <a:cs typeface="Times New Roman" pitchFamily="18" charset="0"/>
              </a:rPr>
              <a:t>Requirements</a:t>
            </a:r>
            <a:br>
              <a:rPr lang="en-US" sz="3600" b="1" dirty="0">
                <a:latin typeface="Times New Roman" pitchFamily="18" charset="0"/>
                <a:cs typeface="Times New Roman" pitchFamily="18" charset="0"/>
              </a:rPr>
            </a:br>
            <a:r>
              <a:rPr lang="en-US" sz="3600" b="1" dirty="0">
                <a:latin typeface="Times New Roman" pitchFamily="18" charset="0"/>
                <a:cs typeface="Times New Roman" pitchFamily="18" charset="0"/>
              </a:rPr>
              <a:t>(Hardware/Software)</a:t>
            </a:r>
          </a:p>
        </p:txBody>
      </p:sp>
      <p:sp>
        <p:nvSpPr>
          <p:cNvPr id="3" name="Content Placeholder 2"/>
          <p:cNvSpPr>
            <a:spLocks noGrp="1"/>
          </p:cNvSpPr>
          <p:nvPr>
            <p:ph idx="1"/>
          </p:nvPr>
        </p:nvSpPr>
        <p:spPr>
          <a:xfrm>
            <a:off x="457200" y="1600200"/>
            <a:ext cx="8229600" cy="4800600"/>
          </a:xfrm>
        </p:spPr>
        <p:txBody>
          <a:bodyPr>
            <a:noAutofit/>
          </a:bodyPr>
          <a:lstStyle/>
          <a:p>
            <a:pPr algn="just">
              <a:buNone/>
            </a:pPr>
            <a:r>
              <a:rPr lang="en-US" sz="2400" b="1" u="sng" dirty="0">
                <a:latin typeface="Times New Roman" panose="02020603050405020304" pitchFamily="18" charset="0"/>
                <a:cs typeface="Times New Roman" panose="02020603050405020304" pitchFamily="18" charset="0"/>
              </a:rPr>
              <a:t>Hardware Requirements : </a:t>
            </a:r>
            <a:r>
              <a:rPr lang="en-US" sz="2400"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pt-BR" sz="1800" b="0" i="0" u="none" strike="noStrike" baseline="0" dirty="0">
                <a:solidFill>
                  <a:srgbClr val="000000"/>
                </a:solidFill>
                <a:latin typeface="Times New Roman" panose="02020603050405020304" pitchFamily="18" charset="0"/>
                <a:cs typeface="Times New Roman" panose="02020603050405020304" pitchFamily="18" charset="0"/>
              </a:rPr>
              <a:t>i. Processor:2 GZ minimum ,Dual Core Processor, 64 bit </a:t>
            </a:r>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b="0" i="0" u="none" strike="noStrike" baseline="0" dirty="0">
                <a:solidFill>
                  <a:srgbClr val="000000"/>
                </a:solidFill>
                <a:latin typeface="Times New Roman" panose="02020603050405020304" pitchFamily="18" charset="0"/>
                <a:cs typeface="Times New Roman" panose="02020603050405020304" pitchFamily="18" charset="0"/>
              </a:rPr>
              <a:t>ii. RAM:8/16 GB </a:t>
            </a:r>
          </a:p>
          <a:p>
            <a:pPr>
              <a:buFont typeface="Wingdings" panose="05000000000000000000" pitchFamily="2" charset="2"/>
              <a:buChar char="Ø"/>
            </a:pPr>
            <a:r>
              <a:rPr lang="en-US" sz="1800" b="0" i="0" u="none" strike="noStrike" baseline="0" dirty="0">
                <a:solidFill>
                  <a:srgbClr val="000000"/>
                </a:solidFill>
                <a:latin typeface="Times New Roman" panose="02020603050405020304" pitchFamily="18" charset="0"/>
                <a:cs typeface="Times New Roman" panose="02020603050405020304" pitchFamily="18" charset="0"/>
              </a:rPr>
              <a:t>iii. Hard – Disk:512 GB SSD </a:t>
            </a:r>
          </a:p>
          <a:p>
            <a:pPr marL="0" indent="0">
              <a:buNone/>
            </a:pPr>
            <a:endParaRPr lang="en-US" sz="1800" b="0" i="0" u="none" strike="noStrike" baseline="0" dirty="0">
              <a:solidFill>
                <a:srgbClr val="000000"/>
              </a:solidFill>
              <a:latin typeface="Times New Roman" panose="02020603050405020304" pitchFamily="18" charset="0"/>
            </a:endParaRPr>
          </a:p>
          <a:p>
            <a:pPr algn="just">
              <a:buNone/>
            </a:pPr>
            <a:r>
              <a:rPr lang="en-US" sz="2000" b="1" dirty="0">
                <a:latin typeface="+mj-lt"/>
                <a:cs typeface="Times New Roman" pitchFamily="18" charset="0"/>
              </a:rPr>
              <a:t> </a:t>
            </a:r>
            <a:r>
              <a:rPr lang="en-US" sz="2400" b="1" u="sng" dirty="0">
                <a:latin typeface="Times New Roman" panose="02020603050405020304" pitchFamily="18" charset="0"/>
                <a:cs typeface="Times New Roman" panose="02020603050405020304" pitchFamily="18" charset="0"/>
              </a:rPr>
              <a:t>Software Requirements :</a:t>
            </a:r>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b="0" i="0" u="none" strike="noStrike" baseline="0" dirty="0">
                <a:solidFill>
                  <a:srgbClr val="000000"/>
                </a:solidFill>
                <a:latin typeface="Times New Roman" panose="02020603050405020304" pitchFamily="18" charset="0"/>
                <a:cs typeface="Times New Roman" panose="02020603050405020304" pitchFamily="18" charset="0"/>
              </a:rPr>
              <a:t>1. Operating System: Windows Operating System </a:t>
            </a:r>
          </a:p>
          <a:p>
            <a:pPr>
              <a:buFont typeface="Wingdings" panose="05000000000000000000" pitchFamily="2" charset="2"/>
              <a:buChar char="Ø"/>
            </a:pPr>
            <a:r>
              <a:rPr lang="en-US" sz="1800" b="0" i="0" u="none" strike="noStrike" baseline="0" dirty="0">
                <a:solidFill>
                  <a:srgbClr val="000000"/>
                </a:solidFill>
                <a:latin typeface="Times New Roman" panose="02020603050405020304" pitchFamily="18" charset="0"/>
                <a:cs typeface="Times New Roman" panose="02020603050405020304" pitchFamily="18" charset="0"/>
              </a:rPr>
              <a:t>2.Visual Studio Code</a:t>
            </a:r>
          </a:p>
          <a:p>
            <a:pPr>
              <a:buFont typeface="Wingdings" panose="05000000000000000000" pitchFamily="2" charset="2"/>
              <a:buChar char="Ø"/>
            </a:pPr>
            <a:r>
              <a:rPr lang="en-US" sz="1800" dirty="0">
                <a:solidFill>
                  <a:srgbClr val="000000"/>
                </a:solidFill>
                <a:latin typeface="Times New Roman" panose="02020603050405020304" pitchFamily="18" charset="0"/>
                <a:cs typeface="Times New Roman" panose="02020603050405020304" pitchFamily="18" charset="0"/>
              </a:rPr>
              <a:t>3.</a:t>
            </a:r>
            <a:r>
              <a:rPr lang="en-US" sz="1800" b="0" i="0" u="none" strike="noStrike" baseline="0" dirty="0">
                <a:solidFill>
                  <a:srgbClr val="000000"/>
                </a:solidFill>
                <a:latin typeface="Times New Roman" panose="02020603050405020304" pitchFamily="18" charset="0"/>
                <a:cs typeface="Times New Roman" panose="02020603050405020304" pitchFamily="18" charset="0"/>
              </a:rPr>
              <a:t> MySQL Workbench.</a:t>
            </a:r>
          </a:p>
          <a:p>
            <a:pPr>
              <a:buFont typeface="Wingdings" panose="05000000000000000000" pitchFamily="2" charset="2"/>
              <a:buChar char="Ø"/>
            </a:pPr>
            <a:endParaRPr lang="en-US" sz="1800" dirty="0">
              <a:solidFill>
                <a:srgbClr val="000000"/>
              </a:solidFill>
              <a:latin typeface="Times New Roman" panose="02020603050405020304" pitchFamily="18" charset="0"/>
              <a:cs typeface="Times New Roman" panose="02020603050405020304" pitchFamily="18" charset="0"/>
            </a:endParaRPr>
          </a:p>
          <a:p>
            <a:pPr marL="0" indent="0">
              <a:buNone/>
            </a:pPr>
            <a:r>
              <a:rPr lang="en-US" sz="2400" b="1" u="sng" dirty="0">
                <a:latin typeface="Times New Roman" panose="02020603050405020304" pitchFamily="18" charset="0"/>
                <a:cs typeface="Times New Roman" panose="02020603050405020304" pitchFamily="18" charset="0"/>
              </a:rPr>
              <a:t>Technology Requirements :</a:t>
            </a:r>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pPr algn="l">
              <a:buFont typeface="Wingdings" panose="05000000000000000000" pitchFamily="2" charset="2"/>
              <a:buChar char="Ø"/>
            </a:pPr>
            <a:r>
              <a:rPr lang="en-US" sz="1800" dirty="0">
                <a:solidFill>
                  <a:srgbClr val="000000"/>
                </a:solidFill>
                <a:latin typeface="Times New Roman" panose="02020603050405020304" pitchFamily="18" charset="0"/>
                <a:cs typeface="Times New Roman" panose="02020603050405020304" pitchFamily="18" charset="0"/>
              </a:rPr>
              <a:t>React </a:t>
            </a:r>
            <a:r>
              <a:rPr lang="en-US" sz="1800" dirty="0" err="1">
                <a:solidFill>
                  <a:srgbClr val="000000"/>
                </a:solidFill>
                <a:latin typeface="Times New Roman" panose="02020603050405020304" pitchFamily="18" charset="0"/>
                <a:cs typeface="Times New Roman" panose="02020603050405020304" pitchFamily="18" charset="0"/>
              </a:rPr>
              <a:t>js</a:t>
            </a:r>
            <a:r>
              <a:rPr lang="en-US" sz="1800" dirty="0">
                <a:solidFill>
                  <a:srgbClr val="000000"/>
                </a:solidFill>
                <a:latin typeface="Times New Roman" panose="02020603050405020304" pitchFamily="18" charset="0"/>
                <a:cs typeface="Times New Roman" panose="02020603050405020304" pitchFamily="18" charset="0"/>
              </a:rPr>
              <a:t>.</a:t>
            </a:r>
          </a:p>
          <a:p>
            <a:pPr algn="l">
              <a:buFont typeface="Wingdings" panose="05000000000000000000" pitchFamily="2" charset="2"/>
              <a:buChar char="Ø"/>
            </a:pPr>
            <a:r>
              <a:rPr lang="en-US" sz="1800" b="0" i="0" u="none" strike="noStrike" baseline="0" dirty="0">
                <a:solidFill>
                  <a:srgbClr val="000000"/>
                </a:solidFill>
                <a:latin typeface="Times New Roman" panose="02020603050405020304" pitchFamily="18" charset="0"/>
                <a:cs typeface="Times New Roman" panose="02020603050405020304" pitchFamily="18" charset="0"/>
              </a:rPr>
              <a:t>MySQL</a:t>
            </a:r>
          </a:p>
          <a:p>
            <a:pPr algn="l">
              <a:buFont typeface="Wingdings" panose="05000000000000000000" pitchFamily="2" charset="2"/>
              <a:buChar char="Ø"/>
            </a:pPr>
            <a:r>
              <a:rPr lang="en-US" sz="1800" dirty="0">
                <a:solidFill>
                  <a:srgbClr val="000000"/>
                </a:solidFill>
                <a:latin typeface="Times New Roman" panose="02020603050405020304" pitchFamily="18" charset="0"/>
                <a:cs typeface="Times New Roman" panose="02020603050405020304" pitchFamily="18" charset="0"/>
              </a:rPr>
              <a:t>Node.js</a:t>
            </a:r>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p>
            <a:pPr marL="0" indent="0" algn="l">
              <a:buNone/>
            </a:pPr>
            <a:endParaRPr lang="en-US" sz="1800" b="0" i="0" u="none" strike="noStrike" baseline="0" dirty="0">
              <a:solidFill>
                <a:srgbClr val="000000"/>
              </a:solidFill>
              <a:latin typeface="Times New Roman" panose="02020603050405020304" pitchFamily="18" charset="0"/>
            </a:endParaRPr>
          </a:p>
          <a:p>
            <a:pPr algn="just">
              <a:buNone/>
            </a:pPr>
            <a:r>
              <a:rPr lang="en-US" sz="2000" dirty="0">
                <a:latin typeface="+mj-lt"/>
                <a:cs typeface="Times New Roman" pitchFamily="18" charset="0"/>
              </a:rPr>
              <a:t>	</a:t>
            </a:r>
          </a:p>
          <a:p>
            <a:endParaRPr lang="en-US" dirty="0"/>
          </a:p>
        </p:txBody>
      </p:sp>
      <p:sp>
        <p:nvSpPr>
          <p:cNvPr id="4" name="Title 1"/>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5" name="Content Placeholder 10"/>
          <p:cNvSpPr txBox="1">
            <a:spLocks/>
          </p:cNvSpPr>
          <p:nvPr/>
        </p:nvSpPr>
        <p:spPr>
          <a:xfrm>
            <a:off x="359898" y="1445773"/>
            <a:ext cx="8382000" cy="5029200"/>
          </a:xfrm>
          <a:prstGeom prst="rect">
            <a:avLst/>
          </a:prstGeom>
        </p:spPr>
        <p:txBody>
          <a:bodyPr vert="horz" lIns="91440" tIns="45720" rIns="91440" bIns="45720" rtlCol="0">
            <a:noAutofit/>
          </a:bodyPr>
          <a:lstStyle/>
          <a:p>
            <a:pPr marL="365125" marR="0" lvl="0" indent="-401638" algn="l" defTabSz="914400" rtl="0" eaLnBrk="1" fontAlgn="auto" latinLnBrk="0" hangingPunct="1">
              <a:lnSpc>
                <a:spcPct val="150000"/>
              </a:lnSpc>
              <a:spcBef>
                <a:spcPts val="400"/>
              </a:spcBef>
              <a:spcAft>
                <a:spcPts val="0"/>
              </a:spcAft>
              <a:buClrTx/>
              <a:buSzTx/>
              <a:buFont typeface="Wingdings" pitchFamily="2" charset="2"/>
              <a:buChar char="§"/>
              <a:tabLst/>
              <a:defRPr/>
            </a:pPr>
            <a:endParaRPr lang="en-IN" sz="2000" dirty="0">
              <a:latin typeface="+mj-lt"/>
              <a:cs typeface="Times New Roman" pitchFamily="18" charset="0"/>
            </a:endParaRPr>
          </a:p>
        </p:txBody>
      </p:sp>
      <p:pic>
        <p:nvPicPr>
          <p:cNvPr id="6" name="Picture 7" descr="Description: Description: Description: Description: Description: I:\ALL PICTURE\JSPM LOGO.JPG"/>
          <p:cNvPicPr>
            <a:picLocks noChangeAspect="1" noChangeArrowheads="1"/>
          </p:cNvPicPr>
          <p:nvPr/>
        </p:nvPicPr>
        <p:blipFill>
          <a:blip r:embed="rId2" cstate="print"/>
          <a:srcRect/>
          <a:stretch>
            <a:fillRect/>
          </a:stretch>
        </p:blipFill>
        <p:spPr bwMode="auto">
          <a:xfrm>
            <a:off x="132893" y="266405"/>
            <a:ext cx="1467307" cy="1278506"/>
          </a:xfrm>
          <a:prstGeom prst="rect">
            <a:avLst/>
          </a:prstGeom>
          <a:noFill/>
          <a:ln w="9525">
            <a:noFill/>
            <a:miter lim="800000"/>
            <a:headEnd/>
            <a:tailEnd/>
          </a:ln>
        </p:spPr>
      </p:pic>
      <p:pic>
        <p:nvPicPr>
          <p:cNvPr id="7" name="Picture 3" descr="C:\Users\HODCOMP\Desktop\CE3AF389D59DDB81.jpg"/>
          <p:cNvPicPr>
            <a:picLocks noChangeAspect="1" noChangeArrowheads="1"/>
          </p:cNvPicPr>
          <p:nvPr/>
        </p:nvPicPr>
        <p:blipFill>
          <a:blip r:embed="rId3" cstate="print"/>
          <a:srcRect/>
          <a:stretch>
            <a:fillRect/>
          </a:stretch>
        </p:blipFill>
        <p:spPr bwMode="auto">
          <a:xfrm>
            <a:off x="7543800" y="152400"/>
            <a:ext cx="1330525" cy="1295401"/>
          </a:xfrm>
          <a:prstGeom prst="rect">
            <a:avLst/>
          </a:prstGeom>
          <a:noFill/>
          <a:ln w="9525">
            <a:noFill/>
            <a:miter lim="800000"/>
            <a:headEnd/>
            <a:tailEnd/>
          </a:ln>
        </p:spPr>
      </p:pic>
      <p:sp>
        <p:nvSpPr>
          <p:cNvPr id="10" name="Footer Placeholder 9">
            <a:extLst>
              <a:ext uri="{FF2B5EF4-FFF2-40B4-BE49-F238E27FC236}">
                <a16:creationId xmlns:a16="http://schemas.microsoft.com/office/drawing/2014/main" id="{FF6D4EB2-46C7-A4CC-0E00-4162FFDE3176}"/>
              </a:ext>
            </a:extLst>
          </p:cNvPr>
          <p:cNvSpPr>
            <a:spLocks noGrp="1"/>
          </p:cNvSpPr>
          <p:nvPr>
            <p:ph type="ftr" sz="quarter" idx="11"/>
          </p:nvPr>
        </p:nvSpPr>
        <p:spPr/>
        <p:txBody>
          <a:bodyPr/>
          <a:lstStyle/>
          <a:p>
            <a:r>
              <a:rPr lang="en-US"/>
              <a:t>JSPM’s BSIOTR, Wagholi, Pune</a:t>
            </a:r>
            <a:endParaRPr lang="en-US" dirty="0"/>
          </a:p>
        </p:txBody>
      </p:sp>
      <p:sp>
        <p:nvSpPr>
          <p:cNvPr id="11" name="Slide Number Placeholder 10">
            <a:extLst>
              <a:ext uri="{FF2B5EF4-FFF2-40B4-BE49-F238E27FC236}">
                <a16:creationId xmlns:a16="http://schemas.microsoft.com/office/drawing/2014/main" id="{325D74FE-F492-12E2-D3D6-6178540C6D7C}"/>
              </a:ext>
            </a:extLst>
          </p:cNvPr>
          <p:cNvSpPr>
            <a:spLocks noGrp="1"/>
          </p:cNvSpPr>
          <p:nvPr>
            <p:ph type="sldNum" sz="quarter" idx="12"/>
          </p:nvPr>
        </p:nvSpPr>
        <p:spPr/>
        <p:txBody>
          <a:bodyPr/>
          <a:lstStyle/>
          <a:p>
            <a:fld id="{7161C815-E3C8-4F84-A404-75109D49E891}" type="slidenum">
              <a:rPr lang="en-US" smtClean="0"/>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F6E75-6378-5C01-5913-47B4F1E13B45}"/>
              </a:ext>
            </a:extLst>
          </p:cNvPr>
          <p:cNvSpPr>
            <a:spLocks noGrp="1"/>
          </p:cNvSpPr>
          <p:nvPr>
            <p:ph type="title"/>
          </p:nvPr>
        </p:nvSpPr>
        <p:spPr>
          <a:xfrm>
            <a:off x="1313844" y="274638"/>
            <a:ext cx="6382356" cy="1143000"/>
          </a:xfrm>
        </p:spPr>
        <p:txBody>
          <a:bodyPr>
            <a:normAutofit/>
          </a:bodyPr>
          <a:lstStyle/>
          <a:p>
            <a:r>
              <a:rPr lang="en-IN" sz="3600" b="1" dirty="0">
                <a:latin typeface="Times New Roman" panose="02020603050405020304" pitchFamily="18" charset="0"/>
                <a:cs typeface="Times New Roman" panose="02020603050405020304" pitchFamily="18" charset="0"/>
              </a:rPr>
              <a:t>Methodologies</a:t>
            </a:r>
          </a:p>
        </p:txBody>
      </p:sp>
      <p:pic>
        <p:nvPicPr>
          <p:cNvPr id="4" name="Picture 7" descr="Description: Description: Description: Description: Description: I:\ALL PICTURE\JSPM LOGO.JPG">
            <a:extLst>
              <a:ext uri="{FF2B5EF4-FFF2-40B4-BE49-F238E27FC236}">
                <a16:creationId xmlns:a16="http://schemas.microsoft.com/office/drawing/2014/main" id="{8813E518-E7FA-2764-A9A4-6B6FEFAA550A}"/>
              </a:ext>
            </a:extLst>
          </p:cNvPr>
          <p:cNvPicPr>
            <a:picLocks noChangeAspect="1" noChangeArrowheads="1"/>
          </p:cNvPicPr>
          <p:nvPr/>
        </p:nvPicPr>
        <p:blipFill>
          <a:blip r:embed="rId2" cstate="print"/>
          <a:srcRect/>
          <a:stretch>
            <a:fillRect/>
          </a:stretch>
        </p:blipFill>
        <p:spPr bwMode="auto">
          <a:xfrm>
            <a:off x="132894" y="185721"/>
            <a:ext cx="1180950" cy="1028995"/>
          </a:xfrm>
          <a:prstGeom prst="rect">
            <a:avLst/>
          </a:prstGeom>
          <a:noFill/>
          <a:ln w="9525">
            <a:noFill/>
            <a:miter lim="800000"/>
            <a:headEnd/>
            <a:tailEnd/>
          </a:ln>
        </p:spPr>
      </p:pic>
      <p:pic>
        <p:nvPicPr>
          <p:cNvPr id="5" name="Picture 3" descr="C:\Users\HODCOMP\Desktop\CE3AF389D59DDB81.jpg">
            <a:extLst>
              <a:ext uri="{FF2B5EF4-FFF2-40B4-BE49-F238E27FC236}">
                <a16:creationId xmlns:a16="http://schemas.microsoft.com/office/drawing/2014/main" id="{094B6ADE-8FCD-08CF-5BEE-81D62C61811E}"/>
              </a:ext>
            </a:extLst>
          </p:cNvPr>
          <p:cNvPicPr>
            <a:picLocks noChangeAspect="1" noChangeArrowheads="1"/>
          </p:cNvPicPr>
          <p:nvPr/>
        </p:nvPicPr>
        <p:blipFill>
          <a:blip r:embed="rId3" cstate="print"/>
          <a:srcRect/>
          <a:stretch>
            <a:fillRect/>
          </a:stretch>
        </p:blipFill>
        <p:spPr bwMode="auto">
          <a:xfrm>
            <a:off x="7696200" y="125507"/>
            <a:ext cx="1178125" cy="1147024"/>
          </a:xfrm>
          <a:prstGeom prst="rect">
            <a:avLst/>
          </a:prstGeom>
          <a:noFill/>
          <a:ln w="9525">
            <a:noFill/>
            <a:miter lim="800000"/>
            <a:headEnd/>
            <a:tailEnd/>
          </a:ln>
        </p:spPr>
      </p:pic>
      <p:sp>
        <p:nvSpPr>
          <p:cNvPr id="7" name="TextBox 6">
            <a:extLst>
              <a:ext uri="{FF2B5EF4-FFF2-40B4-BE49-F238E27FC236}">
                <a16:creationId xmlns:a16="http://schemas.microsoft.com/office/drawing/2014/main" id="{5C5A25D8-FC0C-FCB6-89D4-5A16193CE010}"/>
              </a:ext>
            </a:extLst>
          </p:cNvPr>
          <p:cNvSpPr txBox="1"/>
          <p:nvPr/>
        </p:nvSpPr>
        <p:spPr>
          <a:xfrm>
            <a:off x="798006" y="1676400"/>
            <a:ext cx="7487256" cy="489364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Agile methodology :- </a:t>
            </a:r>
          </a:p>
          <a:p>
            <a:endParaRPr lang="en-US" sz="2400" b="1"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This methodology emphasizes collaboration, flexibility, and rapid delivery. It involves breaking down the project into small iterations or sprints, with each sprint delivering a working piece of the system. Agile methodology is particularly useful when requirements are unclear or changing.</a:t>
            </a:r>
          </a:p>
          <a:p>
            <a:pPr algn="just"/>
            <a:endParaRPr lang="en-US" sz="22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We breakdown our project into two main categories </a:t>
            </a:r>
          </a:p>
          <a:p>
            <a:pPr marL="457200" indent="-457200" algn="just">
              <a:buFont typeface="+mj-lt"/>
              <a:buAutoNum type="arabicParenR"/>
            </a:pPr>
            <a:r>
              <a:rPr lang="en-US" sz="2200" dirty="0">
                <a:latin typeface="Times New Roman" panose="02020603050405020304" pitchFamily="18" charset="0"/>
                <a:cs typeface="Times New Roman" panose="02020603050405020304" pitchFamily="18" charset="0"/>
              </a:rPr>
              <a:t>  Admin</a:t>
            </a:r>
          </a:p>
          <a:p>
            <a:pPr marL="457200" indent="-457200" algn="just">
              <a:buFont typeface="+mj-lt"/>
              <a:buAutoNum type="arabicParenR"/>
            </a:pPr>
            <a:r>
              <a:rPr lang="en-US" sz="2200" dirty="0">
                <a:latin typeface="Times New Roman" panose="02020603050405020304" pitchFamily="18" charset="0"/>
                <a:cs typeface="Times New Roman" panose="02020603050405020304" pitchFamily="18" charset="0"/>
              </a:rPr>
              <a:t>  User(Donor ,Needy)</a:t>
            </a:r>
          </a:p>
          <a:p>
            <a:pPr algn="just"/>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 </a:t>
            </a:r>
            <a:endParaRPr lang="en-IN" sz="2200" dirty="0">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E60D60E7-9F59-6161-13D4-63F0133F0A5E}"/>
              </a:ext>
            </a:extLst>
          </p:cNvPr>
          <p:cNvSpPr>
            <a:spLocks noGrp="1"/>
          </p:cNvSpPr>
          <p:nvPr>
            <p:ph type="ftr" sz="quarter" idx="11"/>
          </p:nvPr>
        </p:nvSpPr>
        <p:spPr/>
        <p:txBody>
          <a:bodyPr/>
          <a:lstStyle/>
          <a:p>
            <a:r>
              <a:rPr lang="en-US"/>
              <a:t>JSPM’s BSIOTR, Wagholi, Pune</a:t>
            </a:r>
            <a:endParaRPr lang="en-US" dirty="0"/>
          </a:p>
        </p:txBody>
      </p:sp>
      <p:sp>
        <p:nvSpPr>
          <p:cNvPr id="9" name="Slide Number Placeholder 8">
            <a:extLst>
              <a:ext uri="{FF2B5EF4-FFF2-40B4-BE49-F238E27FC236}">
                <a16:creationId xmlns:a16="http://schemas.microsoft.com/office/drawing/2014/main" id="{126B61B1-2416-2547-4C71-E8394AF7CFF2}"/>
              </a:ext>
            </a:extLst>
          </p:cNvPr>
          <p:cNvSpPr>
            <a:spLocks noGrp="1"/>
          </p:cNvSpPr>
          <p:nvPr>
            <p:ph type="sldNum" sz="quarter" idx="12"/>
          </p:nvPr>
        </p:nvSpPr>
        <p:spPr/>
        <p:txBody>
          <a:bodyPr/>
          <a:lstStyle/>
          <a:p>
            <a:fld id="{7161C815-E3C8-4F84-A404-75109D49E891}" type="slidenum">
              <a:rPr lang="en-US" smtClean="0"/>
              <a:pPr/>
              <a:t>13</a:t>
            </a:fld>
            <a:endParaRPr lang="en-US" dirty="0"/>
          </a:p>
        </p:txBody>
      </p:sp>
    </p:spTree>
    <p:extLst>
      <p:ext uri="{BB962C8B-B14F-4D97-AF65-F5344CB8AC3E}">
        <p14:creationId xmlns:p14="http://schemas.microsoft.com/office/powerpoint/2010/main" val="19922083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F6E75-6378-5C01-5913-47B4F1E13B45}"/>
              </a:ext>
            </a:extLst>
          </p:cNvPr>
          <p:cNvSpPr>
            <a:spLocks noGrp="1"/>
          </p:cNvSpPr>
          <p:nvPr>
            <p:ph type="title"/>
          </p:nvPr>
        </p:nvSpPr>
        <p:spPr>
          <a:xfrm>
            <a:off x="1313844" y="274638"/>
            <a:ext cx="6382356" cy="1143000"/>
          </a:xfrm>
        </p:spPr>
        <p:txBody>
          <a:bodyPr>
            <a:normAutofit/>
          </a:bodyPr>
          <a:lstStyle/>
          <a:p>
            <a:r>
              <a:rPr lang="en-US" sz="3600" b="1" dirty="0">
                <a:latin typeface="Times New Roman" panose="02020603050405020304" pitchFamily="18" charset="0"/>
                <a:cs typeface="Times New Roman" panose="02020603050405020304" pitchFamily="18" charset="0"/>
              </a:rPr>
              <a:t>A</a:t>
            </a:r>
            <a:r>
              <a:rPr lang="en-IN" sz="3600" b="1" dirty="0" err="1">
                <a:latin typeface="Times New Roman" panose="02020603050405020304" pitchFamily="18" charset="0"/>
                <a:cs typeface="Times New Roman" panose="02020603050405020304" pitchFamily="18" charset="0"/>
              </a:rPr>
              <a:t>dvantages</a:t>
            </a:r>
            <a:endParaRPr lang="en-IN" sz="3600" b="1" dirty="0">
              <a:latin typeface="Times New Roman" panose="02020603050405020304" pitchFamily="18" charset="0"/>
              <a:cs typeface="Times New Roman" panose="02020603050405020304" pitchFamily="18" charset="0"/>
            </a:endParaRPr>
          </a:p>
        </p:txBody>
      </p:sp>
      <p:pic>
        <p:nvPicPr>
          <p:cNvPr id="4" name="Picture 7" descr="Description: Description: Description: Description: Description: I:\ALL PICTURE\JSPM LOGO.JPG">
            <a:extLst>
              <a:ext uri="{FF2B5EF4-FFF2-40B4-BE49-F238E27FC236}">
                <a16:creationId xmlns:a16="http://schemas.microsoft.com/office/drawing/2014/main" id="{8813E518-E7FA-2764-A9A4-6B6FEFAA550A}"/>
              </a:ext>
            </a:extLst>
          </p:cNvPr>
          <p:cNvPicPr>
            <a:picLocks noChangeAspect="1" noChangeArrowheads="1"/>
          </p:cNvPicPr>
          <p:nvPr/>
        </p:nvPicPr>
        <p:blipFill>
          <a:blip r:embed="rId2" cstate="print"/>
          <a:srcRect/>
          <a:stretch>
            <a:fillRect/>
          </a:stretch>
        </p:blipFill>
        <p:spPr bwMode="auto">
          <a:xfrm>
            <a:off x="132894" y="185721"/>
            <a:ext cx="1180950" cy="1028995"/>
          </a:xfrm>
          <a:prstGeom prst="rect">
            <a:avLst/>
          </a:prstGeom>
          <a:noFill/>
          <a:ln w="9525">
            <a:noFill/>
            <a:miter lim="800000"/>
            <a:headEnd/>
            <a:tailEnd/>
          </a:ln>
        </p:spPr>
      </p:pic>
      <p:pic>
        <p:nvPicPr>
          <p:cNvPr id="5" name="Picture 3" descr="C:\Users\HODCOMP\Desktop\CE3AF389D59DDB81.jpg">
            <a:extLst>
              <a:ext uri="{FF2B5EF4-FFF2-40B4-BE49-F238E27FC236}">
                <a16:creationId xmlns:a16="http://schemas.microsoft.com/office/drawing/2014/main" id="{094B6ADE-8FCD-08CF-5BEE-81D62C61811E}"/>
              </a:ext>
            </a:extLst>
          </p:cNvPr>
          <p:cNvPicPr>
            <a:picLocks noChangeAspect="1" noChangeArrowheads="1"/>
          </p:cNvPicPr>
          <p:nvPr/>
        </p:nvPicPr>
        <p:blipFill>
          <a:blip r:embed="rId3" cstate="print"/>
          <a:srcRect/>
          <a:stretch>
            <a:fillRect/>
          </a:stretch>
        </p:blipFill>
        <p:spPr bwMode="auto">
          <a:xfrm>
            <a:off x="7696200" y="125507"/>
            <a:ext cx="1178125" cy="1147024"/>
          </a:xfrm>
          <a:prstGeom prst="rect">
            <a:avLst/>
          </a:prstGeom>
          <a:noFill/>
          <a:ln w="9525">
            <a:noFill/>
            <a:miter lim="800000"/>
            <a:headEnd/>
            <a:tailEnd/>
          </a:ln>
        </p:spPr>
      </p:pic>
      <p:sp>
        <p:nvSpPr>
          <p:cNvPr id="7" name="TextBox 6">
            <a:extLst>
              <a:ext uri="{FF2B5EF4-FFF2-40B4-BE49-F238E27FC236}">
                <a16:creationId xmlns:a16="http://schemas.microsoft.com/office/drawing/2014/main" id="{5C5A25D8-FC0C-FCB6-89D4-5A16193CE010}"/>
              </a:ext>
            </a:extLst>
          </p:cNvPr>
          <p:cNvSpPr txBox="1"/>
          <p:nvPr/>
        </p:nvSpPr>
        <p:spPr>
          <a:xfrm>
            <a:off x="798006" y="1676400"/>
            <a:ext cx="7487256" cy="3816429"/>
          </a:xfrm>
          <a:prstGeom prst="rect">
            <a:avLst/>
          </a:prstGeom>
          <a:noFill/>
        </p:spPr>
        <p:txBody>
          <a:bodyPr wrap="square" rtlCol="0">
            <a:spAutoFit/>
          </a:bodyPr>
          <a:lstStyle/>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Improved blood inventory. </a:t>
            </a:r>
          </a:p>
          <a:p>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A proper database will be generated .</a:t>
            </a:r>
          </a:p>
          <a:p>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A unique blood bank management system with multiple benefits.</a:t>
            </a: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Improved patient safety through human error reduction.</a:t>
            </a:r>
          </a:p>
          <a:p>
            <a:pPr marL="342900" indent="-34290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Workflow efficiency and productivity.</a:t>
            </a:r>
            <a:endParaRPr lang="en-US" sz="2000" dirty="0">
              <a:latin typeface="Times New Roman" panose="02020603050405020304" pitchFamily="18" charset="0"/>
              <a:cs typeface="Times New Roman" panose="02020603050405020304" pitchFamily="18" charset="0"/>
            </a:endParaRPr>
          </a:p>
          <a:p>
            <a:endParaRPr lang="en-IN" sz="2200" dirty="0">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3F12E111-2FA3-F979-2D38-B69A42BC0D96}"/>
              </a:ext>
            </a:extLst>
          </p:cNvPr>
          <p:cNvSpPr>
            <a:spLocks noGrp="1"/>
          </p:cNvSpPr>
          <p:nvPr>
            <p:ph type="ftr" sz="quarter" idx="11"/>
          </p:nvPr>
        </p:nvSpPr>
        <p:spPr/>
        <p:txBody>
          <a:bodyPr/>
          <a:lstStyle/>
          <a:p>
            <a:r>
              <a:rPr lang="en-US"/>
              <a:t>JSPM’s BSIOTR, Wagholi, Pune</a:t>
            </a:r>
            <a:endParaRPr lang="en-US" dirty="0"/>
          </a:p>
        </p:txBody>
      </p:sp>
      <p:sp>
        <p:nvSpPr>
          <p:cNvPr id="9" name="Slide Number Placeholder 8">
            <a:extLst>
              <a:ext uri="{FF2B5EF4-FFF2-40B4-BE49-F238E27FC236}">
                <a16:creationId xmlns:a16="http://schemas.microsoft.com/office/drawing/2014/main" id="{6BC32636-EE8E-C0D1-1D7B-C5879126DD92}"/>
              </a:ext>
            </a:extLst>
          </p:cNvPr>
          <p:cNvSpPr>
            <a:spLocks noGrp="1"/>
          </p:cNvSpPr>
          <p:nvPr>
            <p:ph type="sldNum" sz="quarter" idx="12"/>
          </p:nvPr>
        </p:nvSpPr>
        <p:spPr/>
        <p:txBody>
          <a:bodyPr/>
          <a:lstStyle/>
          <a:p>
            <a:fld id="{7161C815-E3C8-4F84-A404-75109D49E891}" type="slidenum">
              <a:rPr lang="en-US" smtClean="0"/>
              <a:pPr/>
              <a:t>14</a:t>
            </a:fld>
            <a:endParaRPr lang="en-US" dirty="0"/>
          </a:p>
        </p:txBody>
      </p:sp>
    </p:spTree>
    <p:extLst>
      <p:ext uri="{BB962C8B-B14F-4D97-AF65-F5344CB8AC3E}">
        <p14:creationId xmlns:p14="http://schemas.microsoft.com/office/powerpoint/2010/main" val="1608827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F6E75-6378-5C01-5913-47B4F1E13B45}"/>
              </a:ext>
            </a:extLst>
          </p:cNvPr>
          <p:cNvSpPr>
            <a:spLocks noGrp="1"/>
          </p:cNvSpPr>
          <p:nvPr>
            <p:ph type="title"/>
          </p:nvPr>
        </p:nvSpPr>
        <p:spPr>
          <a:xfrm>
            <a:off x="1313844" y="274638"/>
            <a:ext cx="6382356" cy="1143000"/>
          </a:xfrm>
        </p:spPr>
        <p:txBody>
          <a:bodyPr>
            <a:normAutofit/>
          </a:bodyPr>
          <a:lstStyle/>
          <a:p>
            <a:r>
              <a:rPr lang="en-US" sz="3600" b="1" dirty="0">
                <a:latin typeface="Times New Roman" panose="02020603050405020304" pitchFamily="18" charset="0"/>
                <a:cs typeface="Times New Roman" panose="02020603050405020304" pitchFamily="18" charset="0"/>
              </a:rPr>
              <a:t>A</a:t>
            </a:r>
            <a:r>
              <a:rPr lang="en-IN" sz="3600" b="1" dirty="0" err="1">
                <a:latin typeface="Times New Roman" panose="02020603050405020304" pitchFamily="18" charset="0"/>
                <a:cs typeface="Times New Roman" panose="02020603050405020304" pitchFamily="18" charset="0"/>
              </a:rPr>
              <a:t>pplications</a:t>
            </a:r>
            <a:endParaRPr lang="en-IN" sz="3600" b="1" dirty="0">
              <a:latin typeface="Times New Roman" panose="02020603050405020304" pitchFamily="18" charset="0"/>
              <a:cs typeface="Times New Roman" panose="02020603050405020304" pitchFamily="18" charset="0"/>
            </a:endParaRPr>
          </a:p>
        </p:txBody>
      </p:sp>
      <p:pic>
        <p:nvPicPr>
          <p:cNvPr id="4" name="Picture 7" descr="Description: Description: Description: Description: Description: I:\ALL PICTURE\JSPM LOGO.JPG">
            <a:extLst>
              <a:ext uri="{FF2B5EF4-FFF2-40B4-BE49-F238E27FC236}">
                <a16:creationId xmlns:a16="http://schemas.microsoft.com/office/drawing/2014/main" id="{8813E518-E7FA-2764-A9A4-6B6FEFAA550A}"/>
              </a:ext>
            </a:extLst>
          </p:cNvPr>
          <p:cNvPicPr>
            <a:picLocks noChangeAspect="1" noChangeArrowheads="1"/>
          </p:cNvPicPr>
          <p:nvPr/>
        </p:nvPicPr>
        <p:blipFill>
          <a:blip r:embed="rId2" cstate="print"/>
          <a:srcRect/>
          <a:stretch>
            <a:fillRect/>
          </a:stretch>
        </p:blipFill>
        <p:spPr bwMode="auto">
          <a:xfrm>
            <a:off x="132894" y="185721"/>
            <a:ext cx="1180950" cy="1028995"/>
          </a:xfrm>
          <a:prstGeom prst="rect">
            <a:avLst/>
          </a:prstGeom>
          <a:noFill/>
          <a:ln w="9525">
            <a:noFill/>
            <a:miter lim="800000"/>
            <a:headEnd/>
            <a:tailEnd/>
          </a:ln>
        </p:spPr>
      </p:pic>
      <p:pic>
        <p:nvPicPr>
          <p:cNvPr id="5" name="Picture 3" descr="C:\Users\HODCOMP\Desktop\CE3AF389D59DDB81.jpg">
            <a:extLst>
              <a:ext uri="{FF2B5EF4-FFF2-40B4-BE49-F238E27FC236}">
                <a16:creationId xmlns:a16="http://schemas.microsoft.com/office/drawing/2014/main" id="{094B6ADE-8FCD-08CF-5BEE-81D62C61811E}"/>
              </a:ext>
            </a:extLst>
          </p:cNvPr>
          <p:cNvPicPr>
            <a:picLocks noChangeAspect="1" noChangeArrowheads="1"/>
          </p:cNvPicPr>
          <p:nvPr/>
        </p:nvPicPr>
        <p:blipFill>
          <a:blip r:embed="rId3" cstate="print"/>
          <a:srcRect/>
          <a:stretch>
            <a:fillRect/>
          </a:stretch>
        </p:blipFill>
        <p:spPr bwMode="auto">
          <a:xfrm>
            <a:off x="7696200" y="125507"/>
            <a:ext cx="1178125" cy="1147024"/>
          </a:xfrm>
          <a:prstGeom prst="rect">
            <a:avLst/>
          </a:prstGeom>
          <a:noFill/>
          <a:ln w="9525">
            <a:noFill/>
            <a:miter lim="800000"/>
            <a:headEnd/>
            <a:tailEnd/>
          </a:ln>
        </p:spPr>
      </p:pic>
      <p:sp>
        <p:nvSpPr>
          <p:cNvPr id="7" name="TextBox 6">
            <a:extLst>
              <a:ext uri="{FF2B5EF4-FFF2-40B4-BE49-F238E27FC236}">
                <a16:creationId xmlns:a16="http://schemas.microsoft.com/office/drawing/2014/main" id="{5C5A25D8-FC0C-FCB6-89D4-5A16193CE010}"/>
              </a:ext>
            </a:extLst>
          </p:cNvPr>
          <p:cNvSpPr txBox="1"/>
          <p:nvPr/>
        </p:nvSpPr>
        <p:spPr>
          <a:xfrm>
            <a:off x="798006" y="1676400"/>
            <a:ext cx="7487256" cy="6017032"/>
          </a:xfrm>
          <a:prstGeom prst="rect">
            <a:avLst/>
          </a:prstGeom>
          <a:noFill/>
        </p:spPr>
        <p:txBody>
          <a:bodyPr wrap="square" rtlCol="0">
            <a:spAutoFit/>
          </a:bodyPr>
          <a:lstStyle/>
          <a:p>
            <a:endParaRPr lang="en-US" sz="22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Donor Registration Management.</a:t>
            </a:r>
          </a:p>
          <a:p>
            <a:pPr marL="342900" indent="-342900">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Ability to manage the information of its blood donor.</a:t>
            </a:r>
          </a:p>
          <a:p>
            <a:pPr marL="342900" indent="-342900">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Ensures hospitals have a good supply or inventories of blood bags.</a:t>
            </a:r>
          </a:p>
          <a:p>
            <a:pPr marL="342900" indent="-342900">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List the availability of blood bags at any given time.</a:t>
            </a:r>
          </a:p>
          <a:p>
            <a:pPr marL="342900" indent="-342900">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Ability to manage the information of its blood Needy.</a:t>
            </a:r>
          </a:p>
          <a:p>
            <a:pPr marL="342900" indent="-342900">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Alerts for blood requirements from registered donors.</a:t>
            </a:r>
          </a:p>
          <a:p>
            <a:pPr marL="342900" indent="-34290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endParaRPr lang="en-IN" sz="2200" dirty="0">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8AED266C-8955-A2AC-DCE0-48BBC0C8F0DC}"/>
              </a:ext>
            </a:extLst>
          </p:cNvPr>
          <p:cNvSpPr>
            <a:spLocks noGrp="1"/>
          </p:cNvSpPr>
          <p:nvPr>
            <p:ph type="ftr" sz="quarter" idx="11"/>
          </p:nvPr>
        </p:nvSpPr>
        <p:spPr/>
        <p:txBody>
          <a:bodyPr/>
          <a:lstStyle/>
          <a:p>
            <a:r>
              <a:rPr lang="en-US"/>
              <a:t>JSPM’s BSIOTR, Wagholi, Pune</a:t>
            </a:r>
            <a:endParaRPr lang="en-US" dirty="0"/>
          </a:p>
        </p:txBody>
      </p:sp>
      <p:sp>
        <p:nvSpPr>
          <p:cNvPr id="9" name="Slide Number Placeholder 8">
            <a:extLst>
              <a:ext uri="{FF2B5EF4-FFF2-40B4-BE49-F238E27FC236}">
                <a16:creationId xmlns:a16="http://schemas.microsoft.com/office/drawing/2014/main" id="{9E1C9F40-4755-DE79-DAE0-386A182F4878}"/>
              </a:ext>
            </a:extLst>
          </p:cNvPr>
          <p:cNvSpPr>
            <a:spLocks noGrp="1"/>
          </p:cNvSpPr>
          <p:nvPr>
            <p:ph type="sldNum" sz="quarter" idx="12"/>
          </p:nvPr>
        </p:nvSpPr>
        <p:spPr/>
        <p:txBody>
          <a:bodyPr/>
          <a:lstStyle/>
          <a:p>
            <a:fld id="{7161C815-E3C8-4F84-A404-75109D49E891}" type="slidenum">
              <a:rPr lang="en-US" smtClean="0"/>
              <a:pPr/>
              <a:t>15</a:t>
            </a:fld>
            <a:endParaRPr lang="en-US" dirty="0"/>
          </a:p>
        </p:txBody>
      </p:sp>
    </p:spTree>
    <p:extLst>
      <p:ext uri="{BB962C8B-B14F-4D97-AF65-F5344CB8AC3E}">
        <p14:creationId xmlns:p14="http://schemas.microsoft.com/office/powerpoint/2010/main" val="36458256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5DE90-B452-0108-6889-CFD904332614}"/>
              </a:ext>
            </a:extLst>
          </p:cNvPr>
          <p:cNvSpPr>
            <a:spLocks noGrp="1"/>
          </p:cNvSpPr>
          <p:nvPr>
            <p:ph type="title"/>
          </p:nvPr>
        </p:nvSpPr>
        <p:spPr>
          <a:xfrm>
            <a:off x="0" y="247744"/>
            <a:ext cx="9144000" cy="1143000"/>
          </a:xfrm>
        </p:spPr>
        <p:txBody>
          <a:bodyPr>
            <a:normAutofit/>
          </a:bodyPr>
          <a:lstStyle/>
          <a:p>
            <a:r>
              <a:rPr lang="en-US" sz="3600" b="1" dirty="0">
                <a:latin typeface="Times New Roman" panose="02020603050405020304" pitchFamily="18" charset="0"/>
                <a:cs typeface="Times New Roman" panose="02020603050405020304" pitchFamily="18" charset="0"/>
              </a:rPr>
              <a:t>DFD Diagram For Donor Login</a:t>
            </a:r>
            <a:endParaRPr lang="en-IN" sz="3600" b="1" dirty="0">
              <a:latin typeface="Times New Roman" panose="02020603050405020304" pitchFamily="18" charset="0"/>
              <a:cs typeface="Times New Roman" panose="02020603050405020304" pitchFamily="18" charset="0"/>
            </a:endParaRPr>
          </a:p>
        </p:txBody>
      </p:sp>
      <p:pic>
        <p:nvPicPr>
          <p:cNvPr id="2050" name="Picture 2" descr="See the source image">
            <a:extLst>
              <a:ext uri="{FF2B5EF4-FFF2-40B4-BE49-F238E27FC236}">
                <a16:creationId xmlns:a16="http://schemas.microsoft.com/office/drawing/2014/main" id="{F69BE07E-45FF-CCA2-9B5D-A9C98283621B}"/>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3077"/>
          <a:stretch/>
        </p:blipFill>
        <p:spPr bwMode="auto">
          <a:xfrm>
            <a:off x="1466850" y="1600200"/>
            <a:ext cx="6210300" cy="459032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7" descr="Description: Description: Description: Description: Description: I:\ALL PICTURE\JSPM LOGO.JPG">
            <a:extLst>
              <a:ext uri="{FF2B5EF4-FFF2-40B4-BE49-F238E27FC236}">
                <a16:creationId xmlns:a16="http://schemas.microsoft.com/office/drawing/2014/main" id="{D5E745AD-A5CF-A801-3621-EB488DF1AF91}"/>
              </a:ext>
            </a:extLst>
          </p:cNvPr>
          <p:cNvPicPr>
            <a:picLocks noChangeAspect="1" noChangeArrowheads="1"/>
          </p:cNvPicPr>
          <p:nvPr/>
        </p:nvPicPr>
        <p:blipFill>
          <a:blip r:embed="rId3" cstate="print"/>
          <a:srcRect/>
          <a:stretch>
            <a:fillRect/>
          </a:stretch>
        </p:blipFill>
        <p:spPr bwMode="auto">
          <a:xfrm>
            <a:off x="-457" y="179991"/>
            <a:ext cx="1467307" cy="1278506"/>
          </a:xfrm>
          <a:prstGeom prst="rect">
            <a:avLst/>
          </a:prstGeom>
          <a:noFill/>
          <a:ln w="9525">
            <a:noFill/>
            <a:miter lim="800000"/>
            <a:headEnd/>
            <a:tailEnd/>
          </a:ln>
        </p:spPr>
      </p:pic>
      <p:pic>
        <p:nvPicPr>
          <p:cNvPr id="4" name="Picture 3" descr="C:\Users\HODCOMP\Desktop\CE3AF389D59DDB81.jpg">
            <a:extLst>
              <a:ext uri="{FF2B5EF4-FFF2-40B4-BE49-F238E27FC236}">
                <a16:creationId xmlns:a16="http://schemas.microsoft.com/office/drawing/2014/main" id="{7AF115CC-5EF2-D2D6-D165-6D46E3D4D200}"/>
              </a:ext>
            </a:extLst>
          </p:cNvPr>
          <p:cNvPicPr>
            <a:picLocks noChangeAspect="1" noChangeArrowheads="1"/>
          </p:cNvPicPr>
          <p:nvPr/>
        </p:nvPicPr>
        <p:blipFill>
          <a:blip r:embed="rId4" cstate="print"/>
          <a:srcRect/>
          <a:stretch>
            <a:fillRect/>
          </a:stretch>
        </p:blipFill>
        <p:spPr bwMode="auto">
          <a:xfrm>
            <a:off x="7711874" y="76200"/>
            <a:ext cx="1330525" cy="1295401"/>
          </a:xfrm>
          <a:prstGeom prst="rect">
            <a:avLst/>
          </a:prstGeom>
          <a:noFill/>
          <a:ln w="9525">
            <a:noFill/>
            <a:miter lim="800000"/>
            <a:headEnd/>
            <a:tailEnd/>
          </a:ln>
        </p:spPr>
      </p:pic>
      <p:sp>
        <p:nvSpPr>
          <p:cNvPr id="7" name="Footer Placeholder 6">
            <a:extLst>
              <a:ext uri="{FF2B5EF4-FFF2-40B4-BE49-F238E27FC236}">
                <a16:creationId xmlns:a16="http://schemas.microsoft.com/office/drawing/2014/main" id="{FB6E923D-5207-72B1-DBEC-98429F380C50}"/>
              </a:ext>
            </a:extLst>
          </p:cNvPr>
          <p:cNvSpPr>
            <a:spLocks noGrp="1"/>
          </p:cNvSpPr>
          <p:nvPr>
            <p:ph type="ftr" sz="quarter" idx="11"/>
          </p:nvPr>
        </p:nvSpPr>
        <p:spPr/>
        <p:txBody>
          <a:bodyPr/>
          <a:lstStyle/>
          <a:p>
            <a:r>
              <a:rPr lang="en-US"/>
              <a:t>JSPM’s BSIOTR, Wagholi, Pune</a:t>
            </a:r>
            <a:endParaRPr lang="en-US" dirty="0"/>
          </a:p>
        </p:txBody>
      </p:sp>
      <p:sp>
        <p:nvSpPr>
          <p:cNvPr id="8" name="Slide Number Placeholder 7">
            <a:extLst>
              <a:ext uri="{FF2B5EF4-FFF2-40B4-BE49-F238E27FC236}">
                <a16:creationId xmlns:a16="http://schemas.microsoft.com/office/drawing/2014/main" id="{566CC31A-DF74-F4A3-79E4-503721CB9282}"/>
              </a:ext>
            </a:extLst>
          </p:cNvPr>
          <p:cNvSpPr>
            <a:spLocks noGrp="1"/>
          </p:cNvSpPr>
          <p:nvPr>
            <p:ph type="sldNum" sz="quarter" idx="12"/>
          </p:nvPr>
        </p:nvSpPr>
        <p:spPr/>
        <p:txBody>
          <a:bodyPr/>
          <a:lstStyle/>
          <a:p>
            <a:fld id="{7161C815-E3C8-4F84-A404-75109D49E891}" type="slidenum">
              <a:rPr lang="en-US" smtClean="0"/>
              <a:pPr/>
              <a:t>16</a:t>
            </a:fld>
            <a:endParaRPr lang="en-US" dirty="0"/>
          </a:p>
        </p:txBody>
      </p:sp>
    </p:spTree>
    <p:extLst>
      <p:ext uri="{BB962C8B-B14F-4D97-AF65-F5344CB8AC3E}">
        <p14:creationId xmlns:p14="http://schemas.microsoft.com/office/powerpoint/2010/main" val="5861727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3BF4B-6E1C-4AA7-A216-4415F444D2CB}"/>
              </a:ext>
            </a:extLst>
          </p:cNvPr>
          <p:cNvSpPr>
            <a:spLocks noGrp="1"/>
          </p:cNvSpPr>
          <p:nvPr>
            <p:ph type="title"/>
          </p:nvPr>
        </p:nvSpPr>
        <p:spPr>
          <a:xfrm>
            <a:off x="0" y="261191"/>
            <a:ext cx="9144000" cy="1143000"/>
          </a:xfrm>
        </p:spPr>
        <p:txBody>
          <a:bodyPr>
            <a:normAutofit/>
          </a:bodyPr>
          <a:lstStyle/>
          <a:p>
            <a:r>
              <a:rPr lang="en-US" sz="3600" b="1" dirty="0">
                <a:latin typeface="Times New Roman" panose="02020603050405020304" pitchFamily="18" charset="0"/>
                <a:cs typeface="Times New Roman" panose="02020603050405020304" pitchFamily="18" charset="0"/>
              </a:rPr>
              <a:t>DFD Diagram For Process</a:t>
            </a:r>
          </a:p>
        </p:txBody>
      </p:sp>
      <p:pic>
        <p:nvPicPr>
          <p:cNvPr id="1026" name="Picture 2" descr="See the source image">
            <a:extLst>
              <a:ext uri="{FF2B5EF4-FFF2-40B4-BE49-F238E27FC236}">
                <a16:creationId xmlns:a16="http://schemas.microsoft.com/office/drawing/2014/main" id="{70A8BFFA-2222-9B15-E110-1AF6AC62CA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2562" y="1600200"/>
            <a:ext cx="6238875" cy="468404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7" descr="Description: Description: Description: Description: Description: I:\ALL PICTURE\JSPM LOGO.JPG">
            <a:extLst>
              <a:ext uri="{FF2B5EF4-FFF2-40B4-BE49-F238E27FC236}">
                <a16:creationId xmlns:a16="http://schemas.microsoft.com/office/drawing/2014/main" id="{703FFA2D-E66B-EA87-B056-1AC0C9BE7305}"/>
              </a:ext>
            </a:extLst>
          </p:cNvPr>
          <p:cNvPicPr>
            <a:picLocks noChangeAspect="1" noChangeArrowheads="1"/>
          </p:cNvPicPr>
          <p:nvPr/>
        </p:nvPicPr>
        <p:blipFill>
          <a:blip r:embed="rId3" cstate="print"/>
          <a:srcRect/>
          <a:stretch>
            <a:fillRect/>
          </a:stretch>
        </p:blipFill>
        <p:spPr bwMode="auto">
          <a:xfrm>
            <a:off x="0" y="83509"/>
            <a:ext cx="1467307" cy="1278506"/>
          </a:xfrm>
          <a:prstGeom prst="rect">
            <a:avLst/>
          </a:prstGeom>
          <a:noFill/>
          <a:ln w="9525">
            <a:noFill/>
            <a:miter lim="800000"/>
            <a:headEnd/>
            <a:tailEnd/>
          </a:ln>
        </p:spPr>
      </p:pic>
      <p:sp>
        <p:nvSpPr>
          <p:cNvPr id="6" name="Footer Placeholder 5">
            <a:extLst>
              <a:ext uri="{FF2B5EF4-FFF2-40B4-BE49-F238E27FC236}">
                <a16:creationId xmlns:a16="http://schemas.microsoft.com/office/drawing/2014/main" id="{5B2F93E9-1862-D020-3092-BFB2D786E7DF}"/>
              </a:ext>
            </a:extLst>
          </p:cNvPr>
          <p:cNvSpPr>
            <a:spLocks noGrp="1"/>
          </p:cNvSpPr>
          <p:nvPr>
            <p:ph type="ftr" sz="quarter" idx="11"/>
          </p:nvPr>
        </p:nvSpPr>
        <p:spPr/>
        <p:txBody>
          <a:bodyPr/>
          <a:lstStyle/>
          <a:p>
            <a:r>
              <a:rPr lang="en-US"/>
              <a:t>JSPM’s BSIOTR, Wagholi, Pune</a:t>
            </a:r>
            <a:endParaRPr lang="en-US" dirty="0"/>
          </a:p>
        </p:txBody>
      </p:sp>
      <p:sp>
        <p:nvSpPr>
          <p:cNvPr id="7" name="Slide Number Placeholder 6">
            <a:extLst>
              <a:ext uri="{FF2B5EF4-FFF2-40B4-BE49-F238E27FC236}">
                <a16:creationId xmlns:a16="http://schemas.microsoft.com/office/drawing/2014/main" id="{BC08D55C-EC75-945B-A7A0-7BDE848930AD}"/>
              </a:ext>
            </a:extLst>
          </p:cNvPr>
          <p:cNvSpPr>
            <a:spLocks noGrp="1"/>
          </p:cNvSpPr>
          <p:nvPr>
            <p:ph type="sldNum" sz="quarter" idx="12"/>
          </p:nvPr>
        </p:nvSpPr>
        <p:spPr/>
        <p:txBody>
          <a:bodyPr/>
          <a:lstStyle/>
          <a:p>
            <a:fld id="{7161C815-E3C8-4F84-A404-75109D49E891}" type="slidenum">
              <a:rPr lang="en-US" smtClean="0"/>
              <a:pPr/>
              <a:t>17</a:t>
            </a:fld>
            <a:endParaRPr lang="en-US" dirty="0"/>
          </a:p>
        </p:txBody>
      </p:sp>
      <p:pic>
        <p:nvPicPr>
          <p:cNvPr id="4" name="Picture 3" descr="C:\Users\HODCOMP\Desktop\CE3AF389D59DDB81.jpg">
            <a:extLst>
              <a:ext uri="{FF2B5EF4-FFF2-40B4-BE49-F238E27FC236}">
                <a16:creationId xmlns:a16="http://schemas.microsoft.com/office/drawing/2014/main" id="{ABC01327-E459-B340-E536-A5752DC9AB7F}"/>
              </a:ext>
            </a:extLst>
          </p:cNvPr>
          <p:cNvPicPr>
            <a:picLocks noChangeAspect="1" noChangeArrowheads="1"/>
          </p:cNvPicPr>
          <p:nvPr/>
        </p:nvPicPr>
        <p:blipFill>
          <a:blip r:embed="rId4" cstate="print"/>
          <a:srcRect/>
          <a:stretch>
            <a:fillRect/>
          </a:stretch>
        </p:blipFill>
        <p:spPr bwMode="auto">
          <a:xfrm>
            <a:off x="7711874" y="80875"/>
            <a:ext cx="1330525" cy="1295401"/>
          </a:xfrm>
          <a:prstGeom prst="rect">
            <a:avLst/>
          </a:prstGeom>
          <a:noFill/>
          <a:ln w="9525">
            <a:noFill/>
            <a:miter lim="800000"/>
            <a:headEnd/>
            <a:tailEnd/>
          </a:ln>
        </p:spPr>
      </p:pic>
    </p:spTree>
    <p:extLst>
      <p:ext uri="{BB962C8B-B14F-4D97-AF65-F5344CB8AC3E}">
        <p14:creationId xmlns:p14="http://schemas.microsoft.com/office/powerpoint/2010/main" val="10021394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FF286-4243-C56E-DAC5-5EE9287E5467}"/>
              </a:ext>
            </a:extLst>
          </p:cNvPr>
          <p:cNvSpPr>
            <a:spLocks noGrp="1"/>
          </p:cNvSpPr>
          <p:nvPr>
            <p:ph type="title"/>
          </p:nvPr>
        </p:nvSpPr>
        <p:spPr>
          <a:xfrm>
            <a:off x="0" y="274638"/>
            <a:ext cx="9144000" cy="1143000"/>
          </a:xfrm>
        </p:spPr>
        <p:txBody>
          <a:bodyPr>
            <a:normAutofit/>
          </a:bodyPr>
          <a:lstStyle/>
          <a:p>
            <a:r>
              <a:rPr lang="en-IN" sz="3600" b="1" dirty="0">
                <a:latin typeface="Times New Roman" panose="02020603050405020304" pitchFamily="18" charset="0"/>
                <a:cs typeface="Times New Roman" panose="02020603050405020304" pitchFamily="18" charset="0"/>
              </a:rPr>
              <a:t>Class Diagram</a:t>
            </a:r>
          </a:p>
        </p:txBody>
      </p:sp>
      <p:pic>
        <p:nvPicPr>
          <p:cNvPr id="4" name="Picture 3">
            <a:extLst>
              <a:ext uri="{FF2B5EF4-FFF2-40B4-BE49-F238E27FC236}">
                <a16:creationId xmlns:a16="http://schemas.microsoft.com/office/drawing/2014/main" id="{56F065EE-B2C2-101B-BBFA-EC0C436482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1752600"/>
            <a:ext cx="6803807" cy="3733800"/>
          </a:xfrm>
          <a:prstGeom prst="rect">
            <a:avLst/>
          </a:prstGeom>
        </p:spPr>
      </p:pic>
      <p:pic>
        <p:nvPicPr>
          <p:cNvPr id="3" name="Picture 7" descr="Description: Description: Description: Description: Description: I:\ALL PICTURE\JSPM LOGO.JPG">
            <a:extLst>
              <a:ext uri="{FF2B5EF4-FFF2-40B4-BE49-F238E27FC236}">
                <a16:creationId xmlns:a16="http://schemas.microsoft.com/office/drawing/2014/main" id="{40244B4B-849E-29C8-1597-1064450FE9DB}"/>
              </a:ext>
            </a:extLst>
          </p:cNvPr>
          <p:cNvPicPr>
            <a:picLocks noChangeAspect="1" noChangeArrowheads="1"/>
          </p:cNvPicPr>
          <p:nvPr/>
        </p:nvPicPr>
        <p:blipFill>
          <a:blip r:embed="rId3" cstate="print"/>
          <a:srcRect/>
          <a:stretch>
            <a:fillRect/>
          </a:stretch>
        </p:blipFill>
        <p:spPr bwMode="auto">
          <a:xfrm>
            <a:off x="14468" y="139132"/>
            <a:ext cx="1467307" cy="1278506"/>
          </a:xfrm>
          <a:prstGeom prst="rect">
            <a:avLst/>
          </a:prstGeom>
          <a:noFill/>
          <a:ln w="9525">
            <a:noFill/>
            <a:miter lim="800000"/>
            <a:headEnd/>
            <a:tailEnd/>
          </a:ln>
        </p:spPr>
      </p:pic>
      <p:pic>
        <p:nvPicPr>
          <p:cNvPr id="5" name="Picture 3" descr="C:\Users\HODCOMP\Desktop\CE3AF389D59DDB81.jpg">
            <a:extLst>
              <a:ext uri="{FF2B5EF4-FFF2-40B4-BE49-F238E27FC236}">
                <a16:creationId xmlns:a16="http://schemas.microsoft.com/office/drawing/2014/main" id="{DECC41BB-AB20-4820-8B8B-2AC8DDFE2E09}"/>
              </a:ext>
            </a:extLst>
          </p:cNvPr>
          <p:cNvPicPr>
            <a:picLocks noChangeAspect="1" noChangeArrowheads="1"/>
          </p:cNvPicPr>
          <p:nvPr/>
        </p:nvPicPr>
        <p:blipFill>
          <a:blip r:embed="rId4" cstate="print"/>
          <a:srcRect/>
          <a:stretch>
            <a:fillRect/>
          </a:stretch>
        </p:blipFill>
        <p:spPr bwMode="auto">
          <a:xfrm>
            <a:off x="7543800" y="152400"/>
            <a:ext cx="1330525" cy="1295401"/>
          </a:xfrm>
          <a:prstGeom prst="rect">
            <a:avLst/>
          </a:prstGeom>
          <a:noFill/>
          <a:ln w="9525">
            <a:noFill/>
            <a:miter lim="800000"/>
            <a:headEnd/>
            <a:tailEnd/>
          </a:ln>
        </p:spPr>
      </p:pic>
      <p:sp>
        <p:nvSpPr>
          <p:cNvPr id="8" name="Footer Placeholder 7">
            <a:extLst>
              <a:ext uri="{FF2B5EF4-FFF2-40B4-BE49-F238E27FC236}">
                <a16:creationId xmlns:a16="http://schemas.microsoft.com/office/drawing/2014/main" id="{4C4EE834-8DA9-34B6-79E1-E2BFF9923E5C}"/>
              </a:ext>
            </a:extLst>
          </p:cNvPr>
          <p:cNvSpPr>
            <a:spLocks noGrp="1"/>
          </p:cNvSpPr>
          <p:nvPr>
            <p:ph type="ftr" sz="quarter" idx="11"/>
          </p:nvPr>
        </p:nvSpPr>
        <p:spPr/>
        <p:txBody>
          <a:bodyPr/>
          <a:lstStyle/>
          <a:p>
            <a:r>
              <a:rPr lang="en-US"/>
              <a:t>JSPM’s BSIOTR, Wagholi, Pune</a:t>
            </a:r>
            <a:endParaRPr lang="en-US" dirty="0"/>
          </a:p>
        </p:txBody>
      </p:sp>
      <p:sp>
        <p:nvSpPr>
          <p:cNvPr id="9" name="Slide Number Placeholder 8">
            <a:extLst>
              <a:ext uri="{FF2B5EF4-FFF2-40B4-BE49-F238E27FC236}">
                <a16:creationId xmlns:a16="http://schemas.microsoft.com/office/drawing/2014/main" id="{747D49AE-0C9B-70BF-9991-296B880B4D8F}"/>
              </a:ext>
            </a:extLst>
          </p:cNvPr>
          <p:cNvSpPr>
            <a:spLocks noGrp="1"/>
          </p:cNvSpPr>
          <p:nvPr>
            <p:ph type="sldNum" sz="quarter" idx="12"/>
          </p:nvPr>
        </p:nvSpPr>
        <p:spPr/>
        <p:txBody>
          <a:bodyPr/>
          <a:lstStyle/>
          <a:p>
            <a:fld id="{7161C815-E3C8-4F84-A404-75109D49E891}" type="slidenum">
              <a:rPr lang="en-US" smtClean="0"/>
              <a:pPr/>
              <a:t>18</a:t>
            </a:fld>
            <a:endParaRPr lang="en-US" dirty="0"/>
          </a:p>
        </p:txBody>
      </p:sp>
    </p:spTree>
    <p:extLst>
      <p:ext uri="{BB962C8B-B14F-4D97-AF65-F5344CB8AC3E}">
        <p14:creationId xmlns:p14="http://schemas.microsoft.com/office/powerpoint/2010/main" val="40035688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43F62-E922-A8B4-6D80-099D3FA194B0}"/>
              </a:ext>
            </a:extLst>
          </p:cNvPr>
          <p:cNvSpPr>
            <a:spLocks noGrp="1"/>
          </p:cNvSpPr>
          <p:nvPr>
            <p:ph type="title"/>
          </p:nvPr>
        </p:nvSpPr>
        <p:spPr/>
        <p:txBody>
          <a:bodyPr>
            <a:normAutofit/>
          </a:bodyPr>
          <a:lstStyle/>
          <a:p>
            <a:r>
              <a:rPr lang="en-IN" sz="3200" b="1" dirty="0">
                <a:effectLst/>
                <a:latin typeface="Times New Roman" panose="02020603050405020304" pitchFamily="18" charset="0"/>
                <a:ea typeface="Calibri" panose="020F0502020204030204" pitchFamily="34" charset="0"/>
                <a:cs typeface="Arial" panose="020B0604020202020204" pitchFamily="34" charset="0"/>
              </a:rPr>
              <a:t>Use case Diagram</a:t>
            </a:r>
            <a:endParaRPr lang="en-IN" sz="6600" b="1" dirty="0"/>
          </a:p>
        </p:txBody>
      </p:sp>
      <p:sp>
        <p:nvSpPr>
          <p:cNvPr id="3" name="Rectangle 2">
            <a:extLst>
              <a:ext uri="{FF2B5EF4-FFF2-40B4-BE49-F238E27FC236}">
                <a16:creationId xmlns:a16="http://schemas.microsoft.com/office/drawing/2014/main" id="{A78638AB-2355-DC23-9A1A-612321B1B7C4}"/>
              </a:ext>
            </a:extLst>
          </p:cNvPr>
          <p:cNvSpPr>
            <a:spLocks noChangeArrowheads="1"/>
          </p:cNvSpPr>
          <p:nvPr/>
        </p:nvSpPr>
        <p:spPr bwMode="auto">
          <a:xfrm>
            <a:off x="1733550" y="1873249"/>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3073" name="Picture 1">
            <a:extLst>
              <a:ext uri="{FF2B5EF4-FFF2-40B4-BE49-F238E27FC236}">
                <a16:creationId xmlns:a16="http://schemas.microsoft.com/office/drawing/2014/main" id="{60525A93-3F05-B86D-5F01-C95FB8A24E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1459"/>
          <a:stretch>
            <a:fillRect/>
          </a:stretch>
        </p:blipFill>
        <p:spPr bwMode="auto">
          <a:xfrm>
            <a:off x="1447800" y="1058313"/>
            <a:ext cx="5962650" cy="494719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7" descr="Description: Description: Description: Description: Description: I:\ALL PICTURE\JSPM LOGO.JPG">
            <a:extLst>
              <a:ext uri="{FF2B5EF4-FFF2-40B4-BE49-F238E27FC236}">
                <a16:creationId xmlns:a16="http://schemas.microsoft.com/office/drawing/2014/main" id="{1D578A16-330E-E30C-BE91-037F6807DADA}"/>
              </a:ext>
            </a:extLst>
          </p:cNvPr>
          <p:cNvPicPr>
            <a:picLocks noChangeAspect="1" noChangeArrowheads="1"/>
          </p:cNvPicPr>
          <p:nvPr/>
        </p:nvPicPr>
        <p:blipFill>
          <a:blip r:embed="rId3" cstate="print"/>
          <a:srcRect/>
          <a:stretch>
            <a:fillRect/>
          </a:stretch>
        </p:blipFill>
        <p:spPr bwMode="auto">
          <a:xfrm>
            <a:off x="171450" y="176750"/>
            <a:ext cx="1467307" cy="1278506"/>
          </a:xfrm>
          <a:prstGeom prst="rect">
            <a:avLst/>
          </a:prstGeom>
          <a:noFill/>
          <a:ln w="9525">
            <a:noFill/>
            <a:miter lim="800000"/>
            <a:headEnd/>
            <a:tailEnd/>
          </a:ln>
        </p:spPr>
      </p:pic>
      <p:pic>
        <p:nvPicPr>
          <p:cNvPr id="5" name="Picture 3" descr="C:\Users\HODCOMP\Desktop\CE3AF389D59DDB81.jpg">
            <a:extLst>
              <a:ext uri="{FF2B5EF4-FFF2-40B4-BE49-F238E27FC236}">
                <a16:creationId xmlns:a16="http://schemas.microsoft.com/office/drawing/2014/main" id="{C0B6E698-2C03-BF20-6DEE-F81B1BBC6692}"/>
              </a:ext>
            </a:extLst>
          </p:cNvPr>
          <p:cNvPicPr>
            <a:picLocks noChangeAspect="1" noChangeArrowheads="1"/>
          </p:cNvPicPr>
          <p:nvPr/>
        </p:nvPicPr>
        <p:blipFill>
          <a:blip r:embed="rId4" cstate="print"/>
          <a:srcRect/>
          <a:stretch>
            <a:fillRect/>
          </a:stretch>
        </p:blipFill>
        <p:spPr bwMode="auto">
          <a:xfrm>
            <a:off x="7543800" y="152400"/>
            <a:ext cx="1330525" cy="1295401"/>
          </a:xfrm>
          <a:prstGeom prst="rect">
            <a:avLst/>
          </a:prstGeom>
          <a:noFill/>
          <a:ln w="9525">
            <a:noFill/>
            <a:miter lim="800000"/>
            <a:headEnd/>
            <a:tailEnd/>
          </a:ln>
        </p:spPr>
      </p:pic>
      <p:sp>
        <p:nvSpPr>
          <p:cNvPr id="8" name="Footer Placeholder 7">
            <a:extLst>
              <a:ext uri="{FF2B5EF4-FFF2-40B4-BE49-F238E27FC236}">
                <a16:creationId xmlns:a16="http://schemas.microsoft.com/office/drawing/2014/main" id="{C5EFEEC5-805A-DCAF-6EEA-72BDC37CB9BA}"/>
              </a:ext>
            </a:extLst>
          </p:cNvPr>
          <p:cNvSpPr>
            <a:spLocks noGrp="1"/>
          </p:cNvSpPr>
          <p:nvPr>
            <p:ph type="ftr" sz="quarter" idx="11"/>
          </p:nvPr>
        </p:nvSpPr>
        <p:spPr/>
        <p:txBody>
          <a:bodyPr/>
          <a:lstStyle/>
          <a:p>
            <a:r>
              <a:rPr lang="en-US"/>
              <a:t>JSPM’s BSIOTR, Wagholi, Pune</a:t>
            </a:r>
            <a:endParaRPr lang="en-US" dirty="0"/>
          </a:p>
        </p:txBody>
      </p:sp>
      <p:sp>
        <p:nvSpPr>
          <p:cNvPr id="9" name="Slide Number Placeholder 8">
            <a:extLst>
              <a:ext uri="{FF2B5EF4-FFF2-40B4-BE49-F238E27FC236}">
                <a16:creationId xmlns:a16="http://schemas.microsoft.com/office/drawing/2014/main" id="{874F35FB-F032-9561-0CD6-E8B5C6ACC6B1}"/>
              </a:ext>
            </a:extLst>
          </p:cNvPr>
          <p:cNvSpPr>
            <a:spLocks noGrp="1"/>
          </p:cNvSpPr>
          <p:nvPr>
            <p:ph type="sldNum" sz="quarter" idx="12"/>
          </p:nvPr>
        </p:nvSpPr>
        <p:spPr/>
        <p:txBody>
          <a:bodyPr/>
          <a:lstStyle/>
          <a:p>
            <a:fld id="{7161C815-E3C8-4F84-A404-75109D49E891}" type="slidenum">
              <a:rPr lang="en-US" smtClean="0"/>
              <a:pPr/>
              <a:t>19</a:t>
            </a:fld>
            <a:endParaRPr lang="en-US" dirty="0"/>
          </a:p>
        </p:txBody>
      </p:sp>
    </p:spTree>
    <p:extLst>
      <p:ext uri="{BB962C8B-B14F-4D97-AF65-F5344CB8AC3E}">
        <p14:creationId xmlns:p14="http://schemas.microsoft.com/office/powerpoint/2010/main" val="21479829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4638"/>
            <a:ext cx="5943600" cy="1143000"/>
          </a:xfrm>
        </p:spPr>
        <p:txBody>
          <a:bodyPr>
            <a:normAutofit/>
          </a:bodyPr>
          <a:lstStyle/>
          <a:p>
            <a:r>
              <a:rPr lang="en-US" sz="3600" b="1" dirty="0">
                <a:latin typeface="Times New Roman" pitchFamily="18" charset="0"/>
                <a:cs typeface="Times New Roman" pitchFamily="18" charset="0"/>
              </a:rPr>
              <a:t>Conclusion</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best solution is to use the “</a:t>
            </a:r>
            <a:r>
              <a:rPr kumimoji="0" lang="en-US" altLang="en-US" sz="2200"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itchFamily="18" charset="0"/>
              </a:rPr>
              <a:t>A Blood </a:t>
            </a:r>
            <a:r>
              <a:rPr lang="en-US" altLang="en-US" sz="2200" dirty="0">
                <a:latin typeface="Times New Roman" panose="02020603050405020304" pitchFamily="18" charset="0"/>
                <a:ea typeface="+mj-ea"/>
                <a:cs typeface="Times New Roman" pitchFamily="18" charset="0"/>
              </a:rPr>
              <a:t>Bank And Donor Management </a:t>
            </a:r>
            <a:r>
              <a:rPr kumimoji="0" lang="en-US" altLang="en-US" sz="2200"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itchFamily="18" charset="0"/>
              </a:rPr>
              <a:t>system</a:t>
            </a:r>
            <a:r>
              <a:rPr lang="en-US" altLang="en-US" sz="2200" b="1" dirty="0">
                <a:latin typeface="Times New Roman" panose="02020603050405020304" pitchFamily="18" charset="0"/>
                <a:ea typeface="+mj-ea"/>
                <a:cs typeface="Times New Roman" pitchFamily="18" charset="0"/>
              </a:rPr>
              <a:t>” </a:t>
            </a:r>
            <a:r>
              <a:rPr kumimoji="0" lang="en-US"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itchFamily="18" charset="0"/>
              </a:rPr>
              <a:t> </a:t>
            </a:r>
            <a:r>
              <a:rPr lang="en-US" sz="2200" dirty="0">
                <a:latin typeface="Times New Roman" panose="02020603050405020304" pitchFamily="18" charset="0"/>
                <a:cs typeface="Times New Roman" panose="02020603050405020304" pitchFamily="18" charset="0"/>
              </a:rPr>
              <a:t>to help the needy find blood donors in a quick, perfect and safe way also with less effort.</a:t>
            </a:r>
          </a:p>
          <a:p>
            <a:pPr>
              <a:buFont typeface="Wingdings" panose="05000000000000000000" pitchFamily="2" charset="2"/>
              <a:buChar char="Ø"/>
            </a:pPr>
            <a:r>
              <a:rPr kumimoji="0" lang="en-US" altLang="en-US" sz="2200"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itchFamily="18" charset="0"/>
              </a:rPr>
              <a:t>A Blood </a:t>
            </a:r>
            <a:r>
              <a:rPr lang="en-US" altLang="en-US" sz="2200" dirty="0">
                <a:latin typeface="Times New Roman" panose="02020603050405020304" pitchFamily="18" charset="0"/>
                <a:ea typeface="+mj-ea"/>
                <a:cs typeface="Times New Roman" pitchFamily="18" charset="0"/>
              </a:rPr>
              <a:t>Bank And Donor Management </a:t>
            </a:r>
            <a:r>
              <a:rPr kumimoji="0" lang="en-US" altLang="en-US" sz="2200"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itchFamily="18" charset="0"/>
              </a:rPr>
              <a:t>system</a:t>
            </a:r>
            <a:r>
              <a:rPr lang="en-US" sz="2200" dirty="0">
                <a:latin typeface="Times New Roman" panose="02020603050405020304" pitchFamily="18" charset="0"/>
                <a:cs typeface="Times New Roman" panose="02020603050405020304" pitchFamily="18" charset="0"/>
              </a:rPr>
              <a:t> is a concept to combine the donation system with donors, Blood Providers and Blood Needy preferences and their points of view.</a:t>
            </a:r>
          </a:p>
        </p:txBody>
      </p:sp>
      <p:sp>
        <p:nvSpPr>
          <p:cNvPr id="4" name="Title 1"/>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5" name="Content Placeholder 10"/>
          <p:cNvSpPr txBox="1">
            <a:spLocks/>
          </p:cNvSpPr>
          <p:nvPr/>
        </p:nvSpPr>
        <p:spPr>
          <a:xfrm>
            <a:off x="474396" y="1688345"/>
            <a:ext cx="8382000" cy="5029200"/>
          </a:xfrm>
          <a:prstGeom prst="rect">
            <a:avLst/>
          </a:prstGeom>
        </p:spPr>
        <p:txBody>
          <a:bodyPr vert="horz" lIns="91440" tIns="45720" rIns="91440" bIns="45720" rtlCol="0">
            <a:noAutofit/>
          </a:bodyPr>
          <a:lstStyle/>
          <a:p>
            <a:pPr marL="365125" marR="0" lvl="0" indent="-401638" algn="l" defTabSz="914400" rtl="0" eaLnBrk="1" fontAlgn="auto" latinLnBrk="0" hangingPunct="1">
              <a:lnSpc>
                <a:spcPct val="150000"/>
              </a:lnSpc>
              <a:spcBef>
                <a:spcPts val="400"/>
              </a:spcBef>
              <a:spcAft>
                <a:spcPts val="0"/>
              </a:spcAft>
              <a:buClrTx/>
              <a:buSzTx/>
              <a:buFont typeface="Wingdings" pitchFamily="2" charset="2"/>
              <a:buChar char="§"/>
              <a:tabLst/>
              <a:defRPr/>
            </a:pPr>
            <a:endParaRPr lang="en-IN" sz="2000" dirty="0">
              <a:latin typeface="+mj-lt"/>
              <a:cs typeface="Times New Roman" pitchFamily="18" charset="0"/>
            </a:endParaRPr>
          </a:p>
        </p:txBody>
      </p:sp>
      <p:pic>
        <p:nvPicPr>
          <p:cNvPr id="6" name="Picture 7" descr="Description: Description: Description: Description: Description: I:\ALL PICTURE\JSPM LOGO.JPG"/>
          <p:cNvPicPr>
            <a:picLocks noChangeAspect="1" noChangeArrowheads="1"/>
          </p:cNvPicPr>
          <p:nvPr/>
        </p:nvPicPr>
        <p:blipFill>
          <a:blip r:embed="rId2" cstate="print"/>
          <a:srcRect/>
          <a:stretch>
            <a:fillRect/>
          </a:stretch>
        </p:blipFill>
        <p:spPr bwMode="auto">
          <a:xfrm>
            <a:off x="132893" y="266405"/>
            <a:ext cx="1467307" cy="1278506"/>
          </a:xfrm>
          <a:prstGeom prst="rect">
            <a:avLst/>
          </a:prstGeom>
          <a:noFill/>
          <a:ln w="9525">
            <a:noFill/>
            <a:miter lim="800000"/>
            <a:headEnd/>
            <a:tailEnd/>
          </a:ln>
        </p:spPr>
      </p:pic>
      <p:pic>
        <p:nvPicPr>
          <p:cNvPr id="7" name="Picture 3" descr="C:\Users\HODCOMP\Desktop\CE3AF389D59DDB81.jpg"/>
          <p:cNvPicPr>
            <a:picLocks noChangeAspect="1" noChangeArrowheads="1"/>
          </p:cNvPicPr>
          <p:nvPr/>
        </p:nvPicPr>
        <p:blipFill>
          <a:blip r:embed="rId3" cstate="print"/>
          <a:srcRect/>
          <a:stretch>
            <a:fillRect/>
          </a:stretch>
        </p:blipFill>
        <p:spPr bwMode="auto">
          <a:xfrm>
            <a:off x="7543800" y="152400"/>
            <a:ext cx="1330525" cy="1295401"/>
          </a:xfrm>
          <a:prstGeom prst="rect">
            <a:avLst/>
          </a:prstGeom>
          <a:noFill/>
          <a:ln w="9525">
            <a:noFill/>
            <a:miter lim="800000"/>
            <a:headEnd/>
            <a:tailEnd/>
          </a:ln>
        </p:spPr>
      </p:pic>
      <p:sp>
        <p:nvSpPr>
          <p:cNvPr id="10" name="Footer Placeholder 9">
            <a:extLst>
              <a:ext uri="{FF2B5EF4-FFF2-40B4-BE49-F238E27FC236}">
                <a16:creationId xmlns:a16="http://schemas.microsoft.com/office/drawing/2014/main" id="{89A9F4DA-90C0-6FF2-C9A9-655BA49848BF}"/>
              </a:ext>
            </a:extLst>
          </p:cNvPr>
          <p:cNvSpPr>
            <a:spLocks noGrp="1"/>
          </p:cNvSpPr>
          <p:nvPr>
            <p:ph type="ftr" sz="quarter" idx="11"/>
          </p:nvPr>
        </p:nvSpPr>
        <p:spPr/>
        <p:txBody>
          <a:bodyPr/>
          <a:lstStyle/>
          <a:p>
            <a:r>
              <a:rPr lang="en-US"/>
              <a:t>JSPM’s BSIOTR, Wagholi, Pune</a:t>
            </a:r>
            <a:endParaRPr lang="en-US" dirty="0"/>
          </a:p>
        </p:txBody>
      </p:sp>
      <p:sp>
        <p:nvSpPr>
          <p:cNvPr id="11" name="Slide Number Placeholder 10">
            <a:extLst>
              <a:ext uri="{FF2B5EF4-FFF2-40B4-BE49-F238E27FC236}">
                <a16:creationId xmlns:a16="http://schemas.microsoft.com/office/drawing/2014/main" id="{FCFB3F4D-4120-73F3-D018-3A6315316930}"/>
              </a:ext>
            </a:extLst>
          </p:cNvPr>
          <p:cNvSpPr>
            <a:spLocks noGrp="1"/>
          </p:cNvSpPr>
          <p:nvPr>
            <p:ph type="sldNum" sz="quarter" idx="12"/>
          </p:nvPr>
        </p:nvSpPr>
        <p:spPr/>
        <p:txBody>
          <a:bodyPr/>
          <a:lstStyle/>
          <a:p>
            <a:fld id="{7161C815-E3C8-4F84-A404-75109D49E891}" type="slidenum">
              <a:rPr lang="en-US" smtClean="0"/>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38456-00A4-8D36-6203-FA814634FCE9}"/>
              </a:ext>
            </a:extLst>
          </p:cNvPr>
          <p:cNvSpPr>
            <a:spLocks noGrp="1"/>
          </p:cNvSpPr>
          <p:nvPr>
            <p:ph type="title"/>
          </p:nvPr>
        </p:nvSpPr>
        <p:spPr>
          <a:xfrm>
            <a:off x="452377" y="472633"/>
            <a:ext cx="8229600" cy="1127567"/>
          </a:xfrm>
        </p:spPr>
        <p:txBody>
          <a:bodyPr>
            <a:normAutofit fontScale="90000"/>
          </a:bodyPr>
          <a:lstStyle/>
          <a:p>
            <a:r>
              <a:rPr lang="en-US" sz="4000" b="1" dirty="0">
                <a:latin typeface="Times New Roman" panose="02020603050405020304" pitchFamily="18" charset="0"/>
                <a:cs typeface="Times New Roman" panose="02020603050405020304" pitchFamily="18" charset="0"/>
              </a:rPr>
              <a:t>Future Scope</a:t>
            </a:r>
            <a:br>
              <a:rPr lang="en-US" sz="4400"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CE853F35-F85D-3446-BA63-85956607A592}"/>
              </a:ext>
            </a:extLst>
          </p:cNvPr>
          <p:cNvSpPr>
            <a:spLocks noGrp="1"/>
          </p:cNvSpPr>
          <p:nvPr>
            <p:ph idx="1"/>
          </p:nvPr>
        </p:nvSpPr>
        <p:spPr/>
        <p:txBody>
          <a:bodyPr/>
          <a:lstStyle/>
          <a:p>
            <a:pPr marL="0" marR="0" indent="0" algn="just">
              <a:lnSpc>
                <a:spcPts val="1165"/>
              </a:lnSpc>
              <a:spcBef>
                <a:spcPts val="0"/>
              </a:spcBef>
              <a:spcAft>
                <a:spcPts val="0"/>
              </a:spcAft>
              <a:buNone/>
            </a:pPr>
            <a:r>
              <a:rPr lang="en-IN" sz="22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a:p>
            <a:pPr marR="0" lvl="0" algn="just">
              <a:spcBef>
                <a:spcPts val="0"/>
              </a:spcBef>
              <a:spcAft>
                <a:spcPts val="0"/>
              </a:spcAft>
              <a:buFont typeface="Wingdings" panose="05000000000000000000" pitchFamily="2" charset="2"/>
              <a:buChar char="Ø"/>
              <a:tabLst>
                <a:tab pos="270510" algn="l"/>
              </a:tabLst>
            </a:pPr>
            <a:r>
              <a:rPr lang="en-IN" sz="2200" dirty="0">
                <a:effectLst/>
                <a:latin typeface="Times New Roman" panose="02020603050405020304" pitchFamily="18" charset="0"/>
                <a:ea typeface="Times New Roman" panose="02020603050405020304" pitchFamily="18" charset="0"/>
                <a:cs typeface="Times New Roman" panose="02020603050405020304" pitchFamily="18" charset="0"/>
              </a:rPr>
              <a:t>There is always a scope for enhancements in any developed system, especially when the project is built using the latest trending technology and has a good scope in future</a:t>
            </a: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a:p>
            <a:pPr marR="0" lvl="0" algn="just">
              <a:spcBef>
                <a:spcPts val="0"/>
              </a:spcBef>
              <a:spcAft>
                <a:spcPts val="0"/>
              </a:spcAft>
              <a:buFont typeface="Wingdings" panose="05000000000000000000" pitchFamily="2" charset="2"/>
              <a:buChar char="Ø"/>
              <a:tabLst>
                <a:tab pos="270510" algn="l"/>
              </a:tabLst>
            </a:pPr>
            <a:r>
              <a:rPr lang="en-IN" sz="2200" dirty="0">
                <a:effectLst/>
                <a:latin typeface="Times New Roman" panose="02020603050405020304" pitchFamily="18" charset="0"/>
                <a:ea typeface="Times New Roman" panose="02020603050405020304" pitchFamily="18" charset="0"/>
                <a:cs typeface="Times New Roman" panose="02020603050405020304" pitchFamily="18" charset="0"/>
              </a:rPr>
              <a:t>Web based platform can be upscaled to a browser plugin for ease of access to the user.</a:t>
            </a: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a:p>
            <a:pPr marR="0" lvl="0" algn="just">
              <a:spcBef>
                <a:spcPts val="0"/>
              </a:spcBef>
              <a:spcAft>
                <a:spcPts val="0"/>
              </a:spcAft>
              <a:buFont typeface="Wingdings" panose="05000000000000000000" pitchFamily="2" charset="2"/>
              <a:buChar char="Ø"/>
              <a:tabLst>
                <a:tab pos="270510" algn="l"/>
              </a:tabLst>
            </a:pPr>
            <a:r>
              <a:rPr lang="en-IN" sz="2200" dirty="0">
                <a:effectLst/>
                <a:latin typeface="Times New Roman" panose="02020603050405020304" pitchFamily="18" charset="0"/>
                <a:ea typeface="Times New Roman" panose="02020603050405020304" pitchFamily="18" charset="0"/>
                <a:cs typeface="Times New Roman" panose="02020603050405020304" pitchFamily="18" charset="0"/>
              </a:rPr>
              <a:t>Currently all applications switching towards the web application technology for enhancement of the application.</a:t>
            </a: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pic>
        <p:nvPicPr>
          <p:cNvPr id="4" name="Picture 7" descr="Description: Description: Description: Description: Description: I:\ALL PICTURE\JSPM LOGO.JPG">
            <a:extLst>
              <a:ext uri="{FF2B5EF4-FFF2-40B4-BE49-F238E27FC236}">
                <a16:creationId xmlns:a16="http://schemas.microsoft.com/office/drawing/2014/main" id="{3486612C-CAC9-5A47-81C7-188458E63390}"/>
              </a:ext>
            </a:extLst>
          </p:cNvPr>
          <p:cNvPicPr>
            <a:picLocks noChangeAspect="1" noChangeArrowheads="1"/>
          </p:cNvPicPr>
          <p:nvPr/>
        </p:nvPicPr>
        <p:blipFill>
          <a:blip r:embed="rId2" cstate="print"/>
          <a:srcRect/>
          <a:stretch>
            <a:fillRect/>
          </a:stretch>
        </p:blipFill>
        <p:spPr bwMode="auto">
          <a:xfrm>
            <a:off x="152400" y="92584"/>
            <a:ext cx="1467307" cy="1278506"/>
          </a:xfrm>
          <a:prstGeom prst="rect">
            <a:avLst/>
          </a:prstGeom>
          <a:noFill/>
          <a:ln w="9525">
            <a:noFill/>
            <a:miter lim="800000"/>
            <a:headEnd/>
            <a:tailEnd/>
          </a:ln>
        </p:spPr>
      </p:pic>
      <p:pic>
        <p:nvPicPr>
          <p:cNvPr id="5" name="Picture 3" descr="C:\Users\HODCOMP\Desktop\CE3AF389D59DDB81.jpg">
            <a:extLst>
              <a:ext uri="{FF2B5EF4-FFF2-40B4-BE49-F238E27FC236}">
                <a16:creationId xmlns:a16="http://schemas.microsoft.com/office/drawing/2014/main" id="{F4908223-0DDC-189F-34A0-57B61F5DF4E7}"/>
              </a:ext>
            </a:extLst>
          </p:cNvPr>
          <p:cNvPicPr>
            <a:picLocks noChangeAspect="1" noChangeArrowheads="1"/>
          </p:cNvPicPr>
          <p:nvPr/>
        </p:nvPicPr>
        <p:blipFill>
          <a:blip r:embed="rId3" cstate="print"/>
          <a:srcRect/>
          <a:stretch>
            <a:fillRect/>
          </a:stretch>
        </p:blipFill>
        <p:spPr bwMode="auto">
          <a:xfrm>
            <a:off x="7543800" y="152400"/>
            <a:ext cx="1330525" cy="1295401"/>
          </a:xfrm>
          <a:prstGeom prst="rect">
            <a:avLst/>
          </a:prstGeom>
          <a:noFill/>
          <a:ln w="9525">
            <a:noFill/>
            <a:miter lim="800000"/>
            <a:headEnd/>
            <a:tailEnd/>
          </a:ln>
        </p:spPr>
      </p:pic>
      <p:sp>
        <p:nvSpPr>
          <p:cNvPr id="8" name="Footer Placeholder 7">
            <a:extLst>
              <a:ext uri="{FF2B5EF4-FFF2-40B4-BE49-F238E27FC236}">
                <a16:creationId xmlns:a16="http://schemas.microsoft.com/office/drawing/2014/main" id="{EBF79EDB-F6D8-C72A-A25E-D2364C3E2A5C}"/>
              </a:ext>
            </a:extLst>
          </p:cNvPr>
          <p:cNvSpPr>
            <a:spLocks noGrp="1"/>
          </p:cNvSpPr>
          <p:nvPr>
            <p:ph type="ftr" sz="quarter" idx="11"/>
          </p:nvPr>
        </p:nvSpPr>
        <p:spPr/>
        <p:txBody>
          <a:bodyPr/>
          <a:lstStyle/>
          <a:p>
            <a:r>
              <a:rPr lang="en-US"/>
              <a:t>JSPM’s BSIOTR, Wagholi, Pune</a:t>
            </a:r>
            <a:endParaRPr lang="en-US" dirty="0"/>
          </a:p>
        </p:txBody>
      </p:sp>
      <p:sp>
        <p:nvSpPr>
          <p:cNvPr id="9" name="Slide Number Placeholder 8">
            <a:extLst>
              <a:ext uri="{FF2B5EF4-FFF2-40B4-BE49-F238E27FC236}">
                <a16:creationId xmlns:a16="http://schemas.microsoft.com/office/drawing/2014/main" id="{828AB4C8-EA40-A331-7D5F-876E0E1F022C}"/>
              </a:ext>
            </a:extLst>
          </p:cNvPr>
          <p:cNvSpPr>
            <a:spLocks noGrp="1"/>
          </p:cNvSpPr>
          <p:nvPr>
            <p:ph type="sldNum" sz="quarter" idx="12"/>
          </p:nvPr>
        </p:nvSpPr>
        <p:spPr/>
        <p:txBody>
          <a:bodyPr/>
          <a:lstStyle/>
          <a:p>
            <a:fld id="{7161C815-E3C8-4F84-A404-75109D49E891}" type="slidenum">
              <a:rPr lang="en-US" smtClean="0"/>
              <a:pPr/>
              <a:t>21</a:t>
            </a:fld>
            <a:endParaRPr lang="en-US" dirty="0"/>
          </a:p>
        </p:txBody>
      </p:sp>
    </p:spTree>
    <p:extLst>
      <p:ext uri="{BB962C8B-B14F-4D97-AF65-F5344CB8AC3E}">
        <p14:creationId xmlns:p14="http://schemas.microsoft.com/office/powerpoint/2010/main" val="32111210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4638"/>
            <a:ext cx="5943600" cy="1143000"/>
          </a:xfrm>
        </p:spPr>
        <p:txBody>
          <a:bodyPr>
            <a:normAutofit/>
          </a:bodyPr>
          <a:lstStyle/>
          <a:p>
            <a:r>
              <a:rPr lang="en-US" sz="3600" b="1" dirty="0">
                <a:latin typeface="Times New Roman" pitchFamily="18" charset="0"/>
                <a:cs typeface="Times New Roman" pitchFamily="18" charset="0"/>
              </a:rPr>
              <a:t>References</a:t>
            </a:r>
          </a:p>
        </p:txBody>
      </p:sp>
      <p:sp>
        <p:nvSpPr>
          <p:cNvPr id="3" name="Content Placeholder 2"/>
          <p:cNvSpPr>
            <a:spLocks noGrp="1"/>
          </p:cNvSpPr>
          <p:nvPr>
            <p:ph idx="1"/>
          </p:nvPr>
        </p:nvSpPr>
        <p:spPr>
          <a:xfrm>
            <a:off x="432920" y="1981200"/>
            <a:ext cx="8382000" cy="3505200"/>
          </a:xfrm>
        </p:spPr>
        <p:txBody>
          <a:bodyPr>
            <a:noAutofit/>
          </a:bodyPr>
          <a:lstStyle/>
          <a:p>
            <a:pPr marL="0" marR="0" algn="just">
              <a:lnSpc>
                <a:spcPct val="107000"/>
              </a:lnSpc>
              <a:spcBef>
                <a:spcPts val="0"/>
              </a:spcBef>
              <a:spcAft>
                <a:spcPts val="800"/>
              </a:spcAft>
              <a:buFont typeface="Wingdings" panose="05000000000000000000" pitchFamily="2" charset="2"/>
              <a:buChar char="Ø"/>
            </a:pP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Surabhi </a:t>
            </a:r>
            <a:r>
              <a:rPr lang="en-IN" sz="2200" kern="100" dirty="0" err="1">
                <a:effectLst/>
                <a:latin typeface="Times New Roman" panose="02020603050405020304" pitchFamily="18" charset="0"/>
                <a:ea typeface="Calibri" panose="020F0502020204030204" pitchFamily="34" charset="0"/>
                <a:cs typeface="Times New Roman" panose="02020603050405020304" pitchFamily="18" charset="0"/>
              </a:rPr>
              <a:t>S.Pohandulkar</a:t>
            </a: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 and Chhaya S. Khandelwal   “ Smart Blood Bank App ” International Journal of Applied Engineering Research ISSN 0973-4562 Volume 14, </a:t>
            </a:r>
          </a:p>
          <a:p>
            <a:pPr marL="0" marR="0" algn="just">
              <a:lnSpc>
                <a:spcPct val="107000"/>
              </a:lnSpc>
              <a:spcBef>
                <a:spcPts val="0"/>
              </a:spcBef>
              <a:spcAft>
                <a:spcPts val="800"/>
              </a:spcAft>
              <a:buFont typeface="Wingdings" panose="05000000000000000000" pitchFamily="2" charset="2"/>
              <a:buChar char="Ø"/>
            </a:pPr>
            <a:r>
              <a:rPr lang="en-IN" sz="2200" kern="100" dirty="0" err="1">
                <a:effectLst/>
                <a:latin typeface="Times New Roman" panose="02020603050405020304" pitchFamily="18" charset="0"/>
                <a:ea typeface="Calibri" panose="020F0502020204030204" pitchFamily="34" charset="0"/>
                <a:cs typeface="Times New Roman" panose="02020603050405020304" pitchFamily="18" charset="0"/>
              </a:rPr>
              <a:t>Clemen</a:t>
            </a: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 Teena, K. Sankar and S. Kannan “A Study on Blood Bank Management” Middle-East Journal of Scientific Research 19 (8): 1123-1126</a:t>
            </a:r>
          </a:p>
          <a:p>
            <a:pPr marL="0" marR="0" algn="just">
              <a:lnSpc>
                <a:spcPct val="107000"/>
              </a:lnSpc>
              <a:spcBef>
                <a:spcPts val="0"/>
              </a:spcBef>
              <a:spcAft>
                <a:spcPts val="800"/>
              </a:spcAft>
              <a:buFont typeface="Wingdings" panose="05000000000000000000" pitchFamily="2" charset="2"/>
              <a:buChar char="Ø"/>
            </a:pP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Mohammed Anis </a:t>
            </a:r>
            <a:r>
              <a:rPr lang="en-IN" sz="2200" kern="100" dirty="0" err="1">
                <a:effectLst/>
                <a:latin typeface="Times New Roman" panose="02020603050405020304" pitchFamily="18" charset="0"/>
                <a:ea typeface="Calibri" panose="020F0502020204030204" pitchFamily="34" charset="0"/>
                <a:cs typeface="Times New Roman" panose="02020603050405020304" pitchFamily="18" charset="0"/>
              </a:rPr>
              <a:t>Oukebdane</a:t>
            </a: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 Samir </a:t>
            </a:r>
            <a:r>
              <a:rPr lang="en-IN" sz="2200" kern="100" dirty="0" err="1">
                <a:effectLst/>
                <a:latin typeface="Times New Roman" panose="02020603050405020304" pitchFamily="18" charset="0"/>
                <a:ea typeface="Calibri" panose="020F0502020204030204" pitchFamily="34" charset="0"/>
                <a:cs typeface="Times New Roman" panose="02020603050405020304" pitchFamily="18" charset="0"/>
              </a:rPr>
              <a:t>Ghouali</a:t>
            </a: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 Karima Ghazali “E-Blood Bank Android Application for Donors and Life Savers. </a:t>
            </a:r>
            <a:endParaRPr lang="en-US" sz="2200" dirty="0">
              <a:latin typeface="Times New Roman" panose="02020603050405020304" pitchFamily="18" charset="0"/>
              <a:cs typeface="Times New Roman" panose="02020603050405020304" pitchFamily="18" charset="0"/>
            </a:endParaRPr>
          </a:p>
        </p:txBody>
      </p:sp>
      <p:sp>
        <p:nvSpPr>
          <p:cNvPr id="4" name="Title 1"/>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5" name="Content Placeholder 10"/>
          <p:cNvSpPr txBox="1">
            <a:spLocks/>
          </p:cNvSpPr>
          <p:nvPr/>
        </p:nvSpPr>
        <p:spPr>
          <a:xfrm>
            <a:off x="474396" y="1688345"/>
            <a:ext cx="8382000" cy="5029200"/>
          </a:xfrm>
          <a:prstGeom prst="rect">
            <a:avLst/>
          </a:prstGeom>
        </p:spPr>
        <p:txBody>
          <a:bodyPr vert="horz" lIns="91440" tIns="45720" rIns="91440" bIns="45720" rtlCol="0">
            <a:noAutofit/>
          </a:bodyPr>
          <a:lstStyle/>
          <a:p>
            <a:pPr marL="365125" marR="0" lvl="0" indent="-401638" algn="l" defTabSz="914400" rtl="0" eaLnBrk="1" fontAlgn="auto" latinLnBrk="0" hangingPunct="1">
              <a:lnSpc>
                <a:spcPct val="150000"/>
              </a:lnSpc>
              <a:spcBef>
                <a:spcPts val="400"/>
              </a:spcBef>
              <a:spcAft>
                <a:spcPts val="0"/>
              </a:spcAft>
              <a:buClrTx/>
              <a:buSzTx/>
              <a:buFont typeface="Wingdings" pitchFamily="2" charset="2"/>
              <a:buChar char="§"/>
              <a:tabLst/>
              <a:defRPr/>
            </a:pPr>
            <a:endParaRPr lang="en-IN" sz="2000" dirty="0">
              <a:latin typeface="+mj-lt"/>
              <a:cs typeface="Times New Roman" pitchFamily="18" charset="0"/>
            </a:endParaRPr>
          </a:p>
        </p:txBody>
      </p:sp>
      <p:pic>
        <p:nvPicPr>
          <p:cNvPr id="6" name="Picture 7" descr="Description: Description: Description: Description: Description: I:\ALL PICTURE\JSPM LOGO.JPG"/>
          <p:cNvPicPr>
            <a:picLocks noChangeAspect="1" noChangeArrowheads="1"/>
          </p:cNvPicPr>
          <p:nvPr/>
        </p:nvPicPr>
        <p:blipFill>
          <a:blip r:embed="rId2" cstate="print"/>
          <a:srcRect/>
          <a:stretch>
            <a:fillRect/>
          </a:stretch>
        </p:blipFill>
        <p:spPr bwMode="auto">
          <a:xfrm>
            <a:off x="132893" y="266405"/>
            <a:ext cx="1467307" cy="1278506"/>
          </a:xfrm>
          <a:prstGeom prst="rect">
            <a:avLst/>
          </a:prstGeom>
          <a:noFill/>
          <a:ln w="9525">
            <a:noFill/>
            <a:miter lim="800000"/>
            <a:headEnd/>
            <a:tailEnd/>
          </a:ln>
        </p:spPr>
      </p:pic>
      <p:pic>
        <p:nvPicPr>
          <p:cNvPr id="7" name="Picture 3" descr="C:\Users\HODCOMP\Desktop\CE3AF389D59DDB81.jpg"/>
          <p:cNvPicPr>
            <a:picLocks noChangeAspect="1" noChangeArrowheads="1"/>
          </p:cNvPicPr>
          <p:nvPr/>
        </p:nvPicPr>
        <p:blipFill>
          <a:blip r:embed="rId3" cstate="print"/>
          <a:srcRect/>
          <a:stretch>
            <a:fillRect/>
          </a:stretch>
        </p:blipFill>
        <p:spPr bwMode="auto">
          <a:xfrm>
            <a:off x="7543800" y="152399"/>
            <a:ext cx="1330525" cy="1295401"/>
          </a:xfrm>
          <a:prstGeom prst="rect">
            <a:avLst/>
          </a:prstGeom>
          <a:noFill/>
          <a:ln w="9525">
            <a:noFill/>
            <a:miter lim="800000"/>
            <a:headEnd/>
            <a:tailEnd/>
          </a:ln>
        </p:spPr>
      </p:pic>
      <p:sp>
        <p:nvSpPr>
          <p:cNvPr id="10" name="Footer Placeholder 9">
            <a:extLst>
              <a:ext uri="{FF2B5EF4-FFF2-40B4-BE49-F238E27FC236}">
                <a16:creationId xmlns:a16="http://schemas.microsoft.com/office/drawing/2014/main" id="{20E69321-ABC1-5177-B937-5D95062B969F}"/>
              </a:ext>
            </a:extLst>
          </p:cNvPr>
          <p:cNvSpPr>
            <a:spLocks noGrp="1"/>
          </p:cNvSpPr>
          <p:nvPr>
            <p:ph type="ftr" sz="quarter" idx="11"/>
          </p:nvPr>
        </p:nvSpPr>
        <p:spPr/>
        <p:txBody>
          <a:bodyPr/>
          <a:lstStyle/>
          <a:p>
            <a:r>
              <a:rPr lang="en-US" dirty="0"/>
              <a:t>JSPM’s BSIOTR, </a:t>
            </a:r>
            <a:r>
              <a:rPr lang="en-US" dirty="0" err="1"/>
              <a:t>Wagholi</a:t>
            </a:r>
            <a:r>
              <a:rPr lang="en-US" dirty="0"/>
              <a:t>, Pune</a:t>
            </a:r>
          </a:p>
        </p:txBody>
      </p:sp>
      <p:sp>
        <p:nvSpPr>
          <p:cNvPr id="11" name="Slide Number Placeholder 10">
            <a:extLst>
              <a:ext uri="{FF2B5EF4-FFF2-40B4-BE49-F238E27FC236}">
                <a16:creationId xmlns:a16="http://schemas.microsoft.com/office/drawing/2014/main" id="{C6F3D09B-10DF-D317-C523-FCFC6D7E918A}"/>
              </a:ext>
            </a:extLst>
          </p:cNvPr>
          <p:cNvSpPr>
            <a:spLocks noGrp="1"/>
          </p:cNvSpPr>
          <p:nvPr>
            <p:ph type="sldNum" sz="quarter" idx="12"/>
          </p:nvPr>
        </p:nvSpPr>
        <p:spPr/>
        <p:txBody>
          <a:bodyPr/>
          <a:lstStyle/>
          <a:p>
            <a:fld id="{7161C815-E3C8-4F84-A404-75109D49E891}" type="slidenum">
              <a:rPr lang="en-US" smtClean="0"/>
              <a:pPr/>
              <a:t>22</a:t>
            </a:fld>
            <a:endParaRPr lang="en-US" dirty="0"/>
          </a:p>
        </p:txBody>
      </p:sp>
    </p:spTree>
    <p:extLst>
      <p:ext uri="{BB962C8B-B14F-4D97-AF65-F5344CB8AC3E}">
        <p14:creationId xmlns:p14="http://schemas.microsoft.com/office/powerpoint/2010/main" val="41414285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5" name="Content Placeholder 10"/>
          <p:cNvSpPr txBox="1">
            <a:spLocks/>
          </p:cNvSpPr>
          <p:nvPr/>
        </p:nvSpPr>
        <p:spPr>
          <a:xfrm>
            <a:off x="457200" y="1600200"/>
            <a:ext cx="8382000" cy="5029200"/>
          </a:xfrm>
          <a:prstGeom prst="rect">
            <a:avLst/>
          </a:prstGeom>
        </p:spPr>
        <p:txBody>
          <a:bodyPr vert="horz" lIns="91440" tIns="45720" rIns="91440" bIns="45720" rtlCol="0">
            <a:noAutofit/>
          </a:bodyPr>
          <a:lstStyle/>
          <a:p>
            <a:pPr marL="365125" marR="0" lvl="0" indent="-401638" algn="l" defTabSz="914400" rtl="0" eaLnBrk="1" fontAlgn="auto" latinLnBrk="0" hangingPunct="1">
              <a:lnSpc>
                <a:spcPct val="150000"/>
              </a:lnSpc>
              <a:spcBef>
                <a:spcPts val="400"/>
              </a:spcBef>
              <a:spcAft>
                <a:spcPts val="0"/>
              </a:spcAft>
              <a:buClrTx/>
              <a:buSzTx/>
              <a:buFont typeface="Wingdings" pitchFamily="2" charset="2"/>
              <a:buChar char="§"/>
              <a:tabLst/>
              <a:defRPr/>
            </a:pPr>
            <a:endParaRPr lang="en-IN" sz="2200" dirty="0">
              <a:latin typeface="Times New Roman" pitchFamily="18" charset="0"/>
              <a:cs typeface="Times New Roman" pitchFamily="18" charset="0"/>
            </a:endParaRPr>
          </a:p>
        </p:txBody>
      </p:sp>
      <p:pic>
        <p:nvPicPr>
          <p:cNvPr id="6" name="Picture 7" descr="Description: Description: Description: Description: Description: I:\ALL PICTURE\JSPM LOGO.JPG"/>
          <p:cNvPicPr>
            <a:picLocks noChangeAspect="1" noChangeArrowheads="1"/>
          </p:cNvPicPr>
          <p:nvPr/>
        </p:nvPicPr>
        <p:blipFill>
          <a:blip r:embed="rId2" cstate="print"/>
          <a:srcRect/>
          <a:stretch>
            <a:fillRect/>
          </a:stretch>
        </p:blipFill>
        <p:spPr bwMode="auto">
          <a:xfrm>
            <a:off x="132893" y="266405"/>
            <a:ext cx="1467307" cy="1278506"/>
          </a:xfrm>
          <a:prstGeom prst="rect">
            <a:avLst/>
          </a:prstGeom>
          <a:noFill/>
          <a:ln w="9525">
            <a:noFill/>
            <a:miter lim="800000"/>
            <a:headEnd/>
            <a:tailEnd/>
          </a:ln>
        </p:spPr>
      </p:pic>
      <p:pic>
        <p:nvPicPr>
          <p:cNvPr id="7" name="Picture 3" descr="C:\Users\HODCOMP\Desktop\CE3AF389D59DDB81.jpg"/>
          <p:cNvPicPr>
            <a:picLocks noChangeAspect="1" noChangeArrowheads="1"/>
          </p:cNvPicPr>
          <p:nvPr/>
        </p:nvPicPr>
        <p:blipFill>
          <a:blip r:embed="rId3" cstate="print"/>
          <a:srcRect/>
          <a:stretch>
            <a:fillRect/>
          </a:stretch>
        </p:blipFill>
        <p:spPr bwMode="auto">
          <a:xfrm>
            <a:off x="7543800" y="152400"/>
            <a:ext cx="1330525" cy="1295401"/>
          </a:xfrm>
          <a:prstGeom prst="rect">
            <a:avLst/>
          </a:prstGeom>
          <a:noFill/>
          <a:ln w="9525">
            <a:noFill/>
            <a:miter lim="800000"/>
            <a:headEnd/>
            <a:tailEnd/>
          </a:ln>
        </p:spPr>
      </p:pic>
      <p:pic>
        <p:nvPicPr>
          <p:cNvPr id="3074" name="Picture 2" descr="0314 Thank You With Smiley | PowerPoint Shapes | PowerPoint ...">
            <a:extLst>
              <a:ext uri="{FF2B5EF4-FFF2-40B4-BE49-F238E27FC236}">
                <a16:creationId xmlns:a16="http://schemas.microsoft.com/office/drawing/2014/main" id="{BB3890C4-310E-645C-F837-5205CC4DB9D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6535"/>
          <a:stretch/>
        </p:blipFill>
        <p:spPr bwMode="auto">
          <a:xfrm>
            <a:off x="866546" y="1526250"/>
            <a:ext cx="7162800" cy="502098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8" name="Footer Placeholder 7">
            <a:extLst>
              <a:ext uri="{FF2B5EF4-FFF2-40B4-BE49-F238E27FC236}">
                <a16:creationId xmlns:a16="http://schemas.microsoft.com/office/drawing/2014/main" id="{748C709F-6C82-BEF4-54E6-7B623905B181}"/>
              </a:ext>
            </a:extLst>
          </p:cNvPr>
          <p:cNvSpPr>
            <a:spLocks noGrp="1"/>
          </p:cNvSpPr>
          <p:nvPr>
            <p:ph type="ftr" sz="quarter" idx="11"/>
          </p:nvPr>
        </p:nvSpPr>
        <p:spPr/>
        <p:txBody>
          <a:bodyPr/>
          <a:lstStyle/>
          <a:p>
            <a:r>
              <a:rPr lang="en-US"/>
              <a:t>JSPM’s BSIOTR, Wagholi, Pune</a:t>
            </a:r>
            <a:endParaRPr lang="en-US" dirty="0"/>
          </a:p>
        </p:txBody>
      </p:sp>
      <p:sp>
        <p:nvSpPr>
          <p:cNvPr id="9" name="Slide Number Placeholder 8">
            <a:extLst>
              <a:ext uri="{FF2B5EF4-FFF2-40B4-BE49-F238E27FC236}">
                <a16:creationId xmlns:a16="http://schemas.microsoft.com/office/drawing/2014/main" id="{0D139FA7-2581-5BB3-EC4D-464691D86B0E}"/>
              </a:ext>
            </a:extLst>
          </p:cNvPr>
          <p:cNvSpPr>
            <a:spLocks noGrp="1"/>
          </p:cNvSpPr>
          <p:nvPr>
            <p:ph type="sldNum" sz="quarter" idx="12"/>
          </p:nvPr>
        </p:nvSpPr>
        <p:spPr/>
        <p:txBody>
          <a:bodyPr/>
          <a:lstStyle/>
          <a:p>
            <a:fld id="{7161C815-E3C8-4F84-A404-75109D49E891}" type="slidenum">
              <a:rPr lang="en-US" smtClean="0"/>
              <a:pPr/>
              <a:t>23</a:t>
            </a:fld>
            <a:endParaRPr lang="en-US" dirty="0"/>
          </a:p>
        </p:txBody>
      </p:sp>
    </p:spTree>
    <p:extLst>
      <p:ext uri="{BB962C8B-B14F-4D97-AF65-F5344CB8AC3E}">
        <p14:creationId xmlns:p14="http://schemas.microsoft.com/office/powerpoint/2010/main" val="6921860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2072</TotalTime>
  <Words>1254</Words>
  <Application>Microsoft Office PowerPoint</Application>
  <PresentationFormat>On-screen Show (4:3)</PresentationFormat>
  <Paragraphs>186</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Times New Roman</vt:lpstr>
      <vt:lpstr>Wingdings</vt:lpstr>
      <vt:lpstr>Wingdings 2</vt:lpstr>
      <vt:lpstr>Office Theme</vt:lpstr>
      <vt:lpstr>PowerPoint Presentation</vt:lpstr>
      <vt:lpstr>Content</vt:lpstr>
      <vt:lpstr>Introduction</vt:lpstr>
      <vt:lpstr>Motivation</vt:lpstr>
      <vt:lpstr>Problem Statement</vt:lpstr>
      <vt:lpstr>Literature Survey </vt:lpstr>
      <vt:lpstr>Existing System </vt:lpstr>
      <vt:lpstr>Existing System </vt:lpstr>
      <vt:lpstr>PROPOSED SYSTEM </vt:lpstr>
      <vt:lpstr>PROPOSED SYSTEM</vt:lpstr>
      <vt:lpstr>System Architecture/ Block Diagram</vt:lpstr>
      <vt:lpstr>Requirements (Hardware/Software)</vt:lpstr>
      <vt:lpstr>Methodologies</vt:lpstr>
      <vt:lpstr>Advantages</vt:lpstr>
      <vt:lpstr>Applications</vt:lpstr>
      <vt:lpstr>DFD Diagram For Donor Login</vt:lpstr>
      <vt:lpstr>DFD Diagram For Process</vt:lpstr>
      <vt:lpstr>Class Diagram</vt:lpstr>
      <vt:lpstr>Use case Diagram</vt:lpstr>
      <vt:lpstr>Conclusion</vt:lpstr>
      <vt:lpstr>Future Scope </vt:lpstr>
      <vt:lpstr>References</vt:lpstr>
      <vt:lpstr>PowerPoint Presentation</vt:lpstr>
    </vt:vector>
  </TitlesOfParts>
  <Company>Pranav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Pranav</dc:creator>
  <cp:lastModifiedBy>ajay sonawale</cp:lastModifiedBy>
  <cp:revision>123</cp:revision>
  <dcterms:created xsi:type="dcterms:W3CDTF">2021-04-23T05:53:40Z</dcterms:created>
  <dcterms:modified xsi:type="dcterms:W3CDTF">2023-03-17T05:52:05Z</dcterms:modified>
</cp:coreProperties>
</file>